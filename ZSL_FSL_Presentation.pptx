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79" r:id="rId6"/>
    <p:sldId id="260" r:id="rId7"/>
    <p:sldId id="261" r:id="rId8"/>
    <p:sldId id="262" r:id="rId9"/>
    <p:sldId id="263" r:id="rId10"/>
    <p:sldId id="300" r:id="rId11"/>
    <p:sldId id="265" r:id="rId12"/>
    <p:sldId id="264" r:id="rId13"/>
    <p:sldId id="266" r:id="rId14"/>
    <p:sldId id="308" r:id="rId15"/>
    <p:sldId id="267" r:id="rId16"/>
    <p:sldId id="309" r:id="rId17"/>
    <p:sldId id="268" r:id="rId18"/>
    <p:sldId id="301" r:id="rId19"/>
    <p:sldId id="269" r:id="rId20"/>
    <p:sldId id="302" r:id="rId21"/>
    <p:sldId id="270" r:id="rId22"/>
    <p:sldId id="271" r:id="rId23"/>
    <p:sldId id="272" r:id="rId24"/>
    <p:sldId id="273" r:id="rId25"/>
    <p:sldId id="303" r:id="rId26"/>
    <p:sldId id="276" r:id="rId27"/>
    <p:sldId id="277" r:id="rId28"/>
    <p:sldId id="280" r:id="rId29"/>
    <p:sldId id="281" r:id="rId30"/>
    <p:sldId id="282" r:id="rId31"/>
    <p:sldId id="283" r:id="rId32"/>
    <p:sldId id="305" r:id="rId33"/>
    <p:sldId id="284" r:id="rId34"/>
    <p:sldId id="304" r:id="rId35"/>
    <p:sldId id="288" r:id="rId36"/>
    <p:sldId id="306" r:id="rId37"/>
    <p:sldId id="289" r:id="rId38"/>
    <p:sldId id="290" r:id="rId39"/>
    <p:sldId id="291" r:id="rId40"/>
    <p:sldId id="307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778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B137E-FF00-B42D-17EE-07AA9356E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6850F-9B3E-9E97-F68A-888C39D77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CFEFA-5580-E099-FD31-03876DEFB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9CB14-A8A5-39EC-C6CD-1BEAC1EF95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460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DC1A7-918F-AE89-EF6C-37838E80D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1CDB50-895D-3E9E-4198-6FCC87B22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12B17D-D983-6FBD-5FD6-5324401F1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C876F-3807-8031-E5D7-DC21D3D514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673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47F15-6DC0-CCFC-34C9-B4E81A67E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10712F-6039-6410-1ACD-5E4C3F581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C2ED5-EBBA-9931-3079-5D4B415CB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223D0-C98F-C9B6-504A-F851CD0C99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1983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3EDD8-86E7-38D5-2673-18F52DC61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222AED-C20F-B495-6E43-DA1A9A243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14BEB2-ED76-7230-AA43-5AC530E6F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2E4AB-FE0B-467C-A4BF-18F5689BDF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5510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Zero-Shot и Few-Shot Learning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классификации без данных и с минимальной разметкой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I: Фундамент + Zero-Shot Learning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60297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Проблема: почему стандартного обучения недостаточно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Стандартный классификатор умеет различать ровно те классы, на которых обучался.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Появился новый класс → собрать данные → разметить → переобучить.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Дефицит</a:t>
            </a: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данных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~400K видов растений, ~30K видов птиц — собрать тысячи фото каждого невозможно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8046720" cy="73152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Динамические</a:t>
            </a: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классы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Сотни новых товаров/день, поиск человека по описанию — переобучать нереалистично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2296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</a:t>
            </a: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адаптации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идеи до рабочего классификатора за минуты, не за недели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Определения: ZSL и FSL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2011680"/>
          </a:xfrm>
          <a:prstGeom prst="rect">
            <a:avLst/>
          </a:prstGeom>
          <a:solidFill>
            <a:srgbClr val="F8F9FA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Learning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классов, которых модель никогда не видела при обучении.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примеров — описание нового класса: атрибуты, текст, эмбеддинги.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840480" cy="2011680"/>
          </a:xfrm>
          <a:prstGeom prst="rect">
            <a:avLst/>
          </a:prstGeom>
          <a:solidFill>
            <a:srgbClr val="F8F9FA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Learning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Научиться распознавать новый класс по 1–16 примерам.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узнаёт утконоса по одной фотографии. Нейросети нужны тысячи.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Спектр задач: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8046720" cy="73152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868680" y="37947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примеров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63240" y="37947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265176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4526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пример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57800" y="379476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484632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4526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52360" y="379476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704088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4526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тысячи+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Формальная постановка задачи ZSL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7561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400"/>
              <a:t>Чтобы точно понимать, что мы решаем, запишем задачу математически.</a:t>
            </a:r>
          </a:p>
          <a:p>
            <a:r>
              <a:rPr lang="ru-RU" sz="1400"/>
              <a:t>У нас есть обучающая выборка: набор пар (изображение, класс):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/>
              <p:nvPr/>
            </p:nvSpPr>
            <p:spPr>
              <a:xfrm>
                <a:off x="548640" y="1783080"/>
                <a:ext cx="804672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ru-RU" sz="14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𝑠𝑒𝑒𝑛</m:t>
                        </m:r>
                      </m:sub>
                    </m:sSub>
                  </m:oMath>
                </a14:m>
                <a:r>
                  <a:rPr lang="ar-AE" sz="1400" dirty="0"/>
                  <a:t>— </a:t>
                </a:r>
                <a:r>
                  <a:rPr lang="ru-RU" sz="1400" dirty="0"/>
                  <a:t>множество </a:t>
                </a:r>
                <a:r>
                  <a:rPr lang="ru-RU" sz="1400" b="1" dirty="0"/>
                  <a:t>видимых</a:t>
                </a:r>
                <a:r>
                  <a:rPr lang="ru-RU" sz="1400" dirty="0"/>
                  <a:t> (</a:t>
                </a:r>
                <a:r>
                  <a:rPr lang="en-US" sz="1400" dirty="0"/>
                  <a:t>seen) </a:t>
                </a:r>
                <a:r>
                  <a:rPr lang="ru-RU" sz="1400" dirty="0"/>
                  <a:t>классов, на которых модель обучается.</a:t>
                </a:r>
                <a:endParaRPr lang="en-US" sz="1300" dirty="0"/>
              </a:p>
            </p:txBody>
          </p:sp>
        </mc:Choice>
        <mc:Fallback xmlns="">
          <p:sp>
            <p:nvSpPr>
              <p:cNvPr id="4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783080"/>
                <a:ext cx="8046720" cy="320040"/>
              </a:xfrm>
              <a:prstGeom prst="rect">
                <a:avLst/>
              </a:prstGeom>
              <a:blipFill>
                <a:blip r:embed="rId3"/>
                <a:stretch>
                  <a:fillRect l="-1364" b="-26923"/>
                </a:stretch>
              </a:blipFill>
              <a:ln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3"/>
          <p:cNvSpPr/>
          <p:nvPr/>
        </p:nvSpPr>
        <p:spPr>
          <a:xfrm>
            <a:off x="533143" y="2509175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latin typeface="+mj-lt"/>
              </a:rPr>
              <a:t>Каждый</a:t>
            </a:r>
            <a:r>
              <a:rPr lang="en-US" sz="1350" dirty="0">
                <a:solidFill>
                  <a:srgbClr val="2D2D2D"/>
                </a:solidFill>
                <a:latin typeface="+mj-lt"/>
                <a:ea typeface="Calibri" pitchFamily="34" charset="-122"/>
                <a:cs typeface="Calibri" pitchFamily="34" charset="-120"/>
              </a:rPr>
              <a:t> класс y описан семантическим вектором φ(y) — </a:t>
            </a:r>
            <a:r>
              <a:rPr lang="ru-RU" sz="1350" dirty="0">
                <a:latin typeface="+mj-lt"/>
              </a:rPr>
              <a:t>это может быть вектор атрибутов (85 бинарных признаков вроде «полосатый», «четвероногий»), word2vec-эмбеддинг названия класса, или текстовое описание.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548640" y="3347634"/>
                <a:ext cx="804672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ru-RU" sz="1400" dirty="0"/>
                  <a:t>Есть множество </a:t>
                </a:r>
                <a:r>
                  <a:rPr lang="ru-RU" sz="1400" b="1" dirty="0"/>
                  <a:t>невидимых</a:t>
                </a:r>
                <a:r>
                  <a:rPr lang="ru-RU" sz="1400" dirty="0"/>
                  <a:t> (</a:t>
                </a:r>
                <a:r>
                  <a:rPr lang="en-US" sz="1400" dirty="0"/>
                  <a:t>unseen) </a:t>
                </a:r>
                <a:r>
                  <a:rPr lang="ru-RU" sz="1400" dirty="0"/>
                  <a:t>тестовых классов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𝑢𝑛𝑠𝑒𝑒𝑛</m:t>
                        </m:r>
                      </m:sub>
                    </m:sSub>
                  </m:oMath>
                </a14:m>
                <a:r>
                  <a:rPr lang="ar-AE" sz="1400" dirty="0"/>
                  <a:t>, </a:t>
                </a:r>
                <a:r>
                  <a:rPr lang="ru-RU" sz="1400" dirty="0"/>
                  <a:t>причём видимые и невидимые классы </a:t>
                </a:r>
                <a:r>
                  <a:rPr lang="ru-RU" sz="1400" b="1" dirty="0"/>
                  <a:t>не пересекаются</a:t>
                </a:r>
                <a:r>
                  <a:rPr lang="ru-RU" sz="1400" dirty="0"/>
                  <a:t>:</a:t>
                </a:r>
              </a:p>
              <a:p>
                <a:endParaRPr lang="ar-AE" sz="14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3347634"/>
                <a:ext cx="8046720" cy="320040"/>
              </a:xfrm>
              <a:prstGeom prst="rect">
                <a:avLst/>
              </a:prstGeom>
              <a:blipFill>
                <a:blip r:embed="rId4"/>
                <a:stretch>
                  <a:fillRect l="-1364" t="-60377" r="-833" b="-24528"/>
                </a:stretch>
              </a:blipFill>
              <a:ln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F2CDC29-CCEA-3B80-C63D-655041A315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1704" y="1424991"/>
            <a:ext cx="5607260" cy="38877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03B6879-6BD2-DFE4-BC25-7A63AE5003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3078" y="3703231"/>
            <a:ext cx="5997844" cy="5689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32CF2-05BB-039D-08F2-5EBDBA7C0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7994069-A8F7-80E1-7680-656C14A0548E}"/>
              </a:ext>
            </a:extLst>
          </p:cNvPr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Формальная постановка задачи ZSL</a:t>
            </a:r>
            <a:endParaRPr 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CA924BDB-37A2-91A6-CC1B-C712693DF7B1}"/>
                  </a:ext>
                </a:extLst>
              </p:cNvPr>
              <p:cNvSpPr/>
              <p:nvPr/>
            </p:nvSpPr>
            <p:spPr>
              <a:xfrm>
                <a:off x="548640" y="975618"/>
                <a:ext cx="804672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ru-RU" sz="1400" b="1" dirty="0"/>
                  <a:t>Задача:</a:t>
                </a:r>
                <a:r>
                  <a:rPr lang="ru-RU" sz="1400" dirty="0"/>
                  <a:t> построить классификатор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>
                        <a:latin typeface="Cambria Math" panose="02040503050406030204" pitchFamily="18" charset="0"/>
                      </a:rPr>
                      <m:t>: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𝑢𝑛𝑠𝑒𝑒𝑛</m:t>
                        </m:r>
                      </m:sub>
                    </m:sSub>
                  </m:oMath>
                </a14:m>
                <a:r>
                  <a:rPr lang="ar-AE" sz="1400" dirty="0"/>
                  <a:t>, </a:t>
                </a:r>
                <a:r>
                  <a:rPr lang="ru-RU" sz="1400" dirty="0"/>
                  <a:t>который относит новое изображение к одному из невидимых классов, </a:t>
                </a:r>
                <a:r>
                  <a:rPr lang="ru-RU" sz="1400" b="1" dirty="0"/>
                  <a:t>не имея ни одного обучающего примера</a:t>
                </a:r>
                <a:r>
                  <a:rPr lang="ru-RU" sz="1400" dirty="0"/>
                  <a:t> этих классов.</a:t>
                </a:r>
              </a:p>
            </p:txBody>
          </p:sp>
        </mc:Choice>
        <mc:Fallback xmlns=""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CA924BDB-37A2-91A6-CC1B-C712693DF7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975618"/>
                <a:ext cx="8046720" cy="320040"/>
              </a:xfrm>
              <a:prstGeom prst="rect">
                <a:avLst/>
              </a:prstGeom>
              <a:blipFill>
                <a:blip r:embed="rId3"/>
                <a:stretch>
                  <a:fillRect l="-1364" t="-26415" r="-152" b="-58491"/>
                </a:stretch>
              </a:blipFill>
              <a:ln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>
                <a:extLst>
                  <a:ext uri="{FF2B5EF4-FFF2-40B4-BE49-F238E27FC236}">
                    <a16:creationId xmlns:a16="http://schemas.microsoft.com/office/drawing/2014/main" id="{A6EBDABD-A784-ABDD-CEEA-CC9FE4283A30}"/>
                  </a:ext>
                </a:extLst>
              </p:cNvPr>
              <p:cNvSpPr/>
              <p:nvPr/>
            </p:nvSpPr>
            <p:spPr>
              <a:xfrm>
                <a:off x="548640" y="1504116"/>
                <a:ext cx="804672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ru-RU" sz="1400" dirty="0"/>
                  <a:t>Как это возможно? Через </a:t>
                </a:r>
                <a:r>
                  <a:rPr lang="ru-RU" sz="1400" b="1" dirty="0"/>
                  <a:t>функцию совместимости</a:t>
                </a:r>
                <a:r>
                  <a:rPr lang="ru-RU" sz="1400" dirty="0"/>
                  <a:t> (</a:t>
                </a:r>
                <a:r>
                  <a:rPr lang="ru-RU" sz="1400" dirty="0" err="1"/>
                  <a:t>compatibility</a:t>
                </a:r>
                <a:r>
                  <a:rPr lang="ru-RU" sz="1400" dirty="0"/>
                  <a:t> </a:t>
                </a:r>
                <a:r>
                  <a:rPr lang="ru-RU" sz="1400" dirty="0" err="1"/>
                  <a:t>function</a:t>
                </a:r>
                <a:r>
                  <a:rPr lang="ru-RU" sz="1400" dirty="0"/>
                  <a:t>) — она оценивает, насколько изображение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1400" dirty="0"/>
                  <a:t>«подходит» к описанию класса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ru-RU" sz="1400" dirty="0"/>
                  <a:t>: </a:t>
                </a:r>
              </a:p>
            </p:txBody>
          </p:sp>
        </mc:Choice>
        <mc:Fallback xmlns="">
          <p:sp>
            <p:nvSpPr>
              <p:cNvPr id="4" name="Text 2">
                <a:extLst>
                  <a:ext uri="{FF2B5EF4-FFF2-40B4-BE49-F238E27FC236}">
                    <a16:creationId xmlns:a16="http://schemas.microsoft.com/office/drawing/2014/main" id="{A6EBDABD-A784-ABDD-CEEA-CC9FE4283A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504116"/>
                <a:ext cx="8046720" cy="320040"/>
              </a:xfrm>
              <a:prstGeom prst="rect">
                <a:avLst/>
              </a:prstGeom>
              <a:blipFill>
                <a:blip r:embed="rId4"/>
                <a:stretch>
                  <a:fillRect l="-1364" t="-44231" b="-61538"/>
                </a:stretch>
              </a:blipFill>
              <a:ln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4">
            <a:extLst>
              <a:ext uri="{FF2B5EF4-FFF2-40B4-BE49-F238E27FC236}">
                <a16:creationId xmlns:a16="http://schemas.microsoft.com/office/drawing/2014/main" id="{AA120F4B-05DC-3763-23D8-CF98C9A9E924}"/>
              </a:ext>
            </a:extLst>
          </p:cNvPr>
          <p:cNvSpPr/>
          <p:nvPr/>
        </p:nvSpPr>
        <p:spPr>
          <a:xfrm>
            <a:off x="548640" y="2743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400" dirty="0"/>
              <a:t>Модель выбирает тот </a:t>
            </a:r>
            <a:r>
              <a:rPr lang="ru-RU" sz="1400" dirty="0" err="1"/>
              <a:t>unseen</a:t>
            </a:r>
            <a:r>
              <a:rPr lang="ru-RU" sz="1400" dirty="0"/>
              <a:t>-класс, чьё описание лучше всего «совместимо» с изображением. В простейшем (и самом распространённом) случае функция совместимости — </a:t>
            </a:r>
            <a:r>
              <a:rPr lang="ru-RU" sz="1400" b="1" dirty="0"/>
              <a:t>билинейная</a:t>
            </a:r>
            <a:r>
              <a:rPr lang="ru-RU" sz="1400" dirty="0"/>
              <a:t>:</a:t>
            </a:r>
          </a:p>
          <a:p>
            <a:endParaRPr lang="ru-RU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EEFBFEC-8152-F917-DEB8-3AE1153566D4}"/>
              </a:ext>
            </a:extLst>
          </p:cNvPr>
          <p:cNvSpPr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θ(x) ∈ ℝ^dv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визуальное представление изображения (ResNet-101, 2048-dim)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E81BB98-A42B-230D-E4A0-33FC38AB92DF}"/>
              </a:ext>
            </a:extLst>
          </p:cNvPr>
          <p:cNvSpPr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φ(y) ∈ ℝ^ds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семантическое описание класса (атрибуты или word2vec)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EBC4952-0CB7-BEA0-9985-015CBA23EC61}"/>
              </a:ext>
            </a:extLst>
          </p:cNvPr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∈ ℝ^(dv × ds)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обучаемая матрица проекции (связывает два пространства)</a:t>
            </a:r>
            <a:endParaRPr lang="en-US" sz="12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2DD0FC3-1C3C-594D-7ABB-F570806BF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2304" y="1985804"/>
            <a:ext cx="5579392" cy="45779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4B4A9EB-AF69-DB1C-25A1-899CF5057F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8353" y="3232541"/>
            <a:ext cx="6230318" cy="40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104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Обобщённый ZSL (Generalized ZSL, GZSL)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реальности встречаются и старые, и новые объекты: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548640" y="2560320"/>
                <a:ext cx="804672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ru-RU" sz="1400" dirty="0">
                    <a:latin typeface="+mj-lt"/>
                  </a:rPr>
                  <a:t>Это существенно сложнее, потому что модель </a:t>
                </a:r>
                <a:r>
                  <a:rPr lang="ru-RU" sz="1400" b="1" dirty="0">
                    <a:latin typeface="+mj-lt"/>
                  </a:rPr>
                  <a:t>систематически предпочитает</a:t>
                </a:r>
                <a:r>
                  <a:rPr lang="ru-RU" sz="1400" dirty="0">
                    <a:latin typeface="+mj-lt"/>
                  </a:rPr>
                  <a:t> видимые классы — она на них обучалась и «знает» их лучше. Для оценки </a:t>
                </a:r>
                <a:r>
                  <a:rPr lang="en-US" sz="1400" dirty="0">
                    <a:latin typeface="+mj-lt"/>
                  </a:rPr>
                  <a:t>GZSL </a:t>
                </a:r>
                <a:r>
                  <a:rPr lang="ru-RU" sz="1400" dirty="0">
                    <a:latin typeface="+mj-lt"/>
                  </a:rPr>
                  <a:t>используется </a:t>
                </a:r>
                <a:r>
                  <a:rPr lang="ru-RU" sz="1400" b="1" dirty="0">
                    <a:latin typeface="+mj-lt"/>
                  </a:rPr>
                  <a:t>гармоническое среднее</a:t>
                </a:r>
                <a:r>
                  <a:rPr lang="ru-RU" sz="1400" dirty="0">
                    <a:latin typeface="+mj-lt"/>
                  </a:rPr>
                  <a:t> точности на видимых (</a:t>
                </a:r>
                <a14:m>
                  <m:oMath xmlns:m="http://schemas.openxmlformats.org/officeDocument/2006/math">
                    <m:r>
                      <a:rPr lang="ru-RU" sz="1400" i="1">
                        <a:latin typeface="Cambria Math" panose="02040503050406030204" pitchFamily="18" charset="0"/>
                      </a:rPr>
                      <m:t>𝐴𝑐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ar-AE" sz="1400" dirty="0">
                    <a:latin typeface="+mj-lt"/>
                  </a:rPr>
                  <a:t>) </a:t>
                </a:r>
                <a:r>
                  <a:rPr lang="ru-RU" sz="1400" dirty="0">
                    <a:latin typeface="+mj-lt"/>
                  </a:rPr>
                  <a:t>и невидимых (</a:t>
                </a:r>
                <a14:m>
                  <m:oMath xmlns:m="http://schemas.openxmlformats.org/officeDocument/2006/math">
                    <m:r>
                      <a:rPr lang="ru-RU" sz="1400" i="1">
                        <a:latin typeface="Cambria Math" panose="02040503050406030204" pitchFamily="18" charset="0"/>
                      </a:rPr>
                      <m:t>𝐴𝑐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 sz="1400" dirty="0">
                    <a:latin typeface="+mj-lt"/>
                  </a:rPr>
                  <a:t>)</a:t>
                </a:r>
                <a:r>
                  <a:rPr lang="ru-RU" sz="1400" dirty="0">
                    <a:latin typeface="+mj-lt"/>
                  </a:rPr>
                  <a:t>лассах: </a:t>
                </a:r>
              </a:p>
              <a:p>
                <a:endParaRPr lang="ru-RU" sz="1400" dirty="0">
                  <a:latin typeface="+mj-lt"/>
                </a:endParaRPr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2560320"/>
                <a:ext cx="8046720" cy="320040"/>
              </a:xfrm>
              <a:prstGeom prst="rect">
                <a:avLst/>
              </a:prstGeom>
              <a:blipFill>
                <a:blip r:embed="rId3"/>
                <a:stretch>
                  <a:fillRect l="-1364" t="-100000" r="-1818" b="-50943"/>
                </a:stretch>
              </a:blipFill>
              <a:ln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— гармоническое среднее: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latin typeface="+mj-lt"/>
                <a:ea typeface="Consolas" pitchFamily="34" charset="-122"/>
                <a:cs typeface="Consolas" pitchFamily="34" charset="-120"/>
              </a:rPr>
              <a:t>Acc_S</a:t>
            </a:r>
            <a:r>
              <a:rPr lang="en-US" sz="1400" dirty="0">
                <a:latin typeface="+mj-lt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400" dirty="0" err="1">
                <a:latin typeface="+mj-lt"/>
                <a:ea typeface="Calibri" pitchFamily="34" charset="-122"/>
                <a:cs typeface="Calibri" pitchFamily="34" charset="-120"/>
              </a:rPr>
              <a:t>точность</a:t>
            </a:r>
            <a:r>
              <a:rPr lang="en-US" sz="1400" dirty="0"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latin typeface="+mj-lt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400" dirty="0">
                <a:latin typeface="+mj-lt"/>
                <a:ea typeface="Calibri" pitchFamily="34" charset="-122"/>
                <a:cs typeface="Calibri" pitchFamily="34" charset="-120"/>
              </a:rPr>
              <a:t> seen,  </a:t>
            </a:r>
            <a:r>
              <a:rPr lang="en-US" sz="1400" b="1" dirty="0" err="1">
                <a:latin typeface="+mj-lt"/>
                <a:ea typeface="Consolas" pitchFamily="34" charset="-122"/>
                <a:cs typeface="Consolas" pitchFamily="34" charset="-120"/>
              </a:rPr>
              <a:t>Acc_U</a:t>
            </a:r>
            <a:r>
              <a:rPr lang="en-US" sz="1400" dirty="0">
                <a:latin typeface="+mj-lt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400" dirty="0" err="1">
                <a:latin typeface="+mj-lt"/>
                <a:ea typeface="Calibri" pitchFamily="34" charset="-122"/>
                <a:cs typeface="Calibri" pitchFamily="34" charset="-120"/>
              </a:rPr>
              <a:t>точность</a:t>
            </a:r>
            <a:r>
              <a:rPr lang="en-US" sz="1400" dirty="0"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latin typeface="+mj-lt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400" dirty="0">
                <a:latin typeface="+mj-lt"/>
                <a:ea typeface="Calibri" pitchFamily="34" charset="-122"/>
                <a:cs typeface="Calibri" pitchFamily="34" charset="-120"/>
              </a:rPr>
              <a:t> unseen</a:t>
            </a:r>
            <a:endParaRPr lang="en-US" sz="140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442089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гармоническое, а не обычное </a:t>
            </a:r>
            <a:r>
              <a:rPr lang="en-US" sz="1200" i="1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</a:t>
            </a: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1200" i="1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</a:t>
            </a: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Acc_S=100%, Acc_U=0% → обычное среднее = 50%, гармоническое = 0%. </a:t>
            </a:r>
            <a:r>
              <a:rPr lang="en-US" sz="1200" i="1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Наказывает</a:t>
            </a: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 дисбаланс.</a:t>
            </a:r>
            <a:endParaRPr lang="en-US" sz="1200" dirty="0"/>
          </a:p>
        </p:txBody>
      </p:sp>
      <p:pic>
        <p:nvPicPr>
          <p:cNvPr id="13" name="Рисунок 12" descr="Изображение выглядит как Шрифт, текст, белый, калли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00B10D7-A17F-1763-F61A-7B2F90148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112" y="1785472"/>
            <a:ext cx="2045776" cy="446778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Шрифт, текст, белый, рукописный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FA1517A-0405-D50F-7630-4FE85D4F76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111" y="3254440"/>
            <a:ext cx="2045778" cy="6845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Формальная постановка FSL: N-way K-shot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93373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 классов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(ways) — новые, не виденные при обучении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9133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 примеров на класс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(shots), обычно K = 1 или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24893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Support set S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= N×K размеченных примеров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90653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Query set Q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— новые примеры для классификации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31198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Эпизодическое обучение (Episodic Training)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691694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мини-батч — эпизод, имитирующий N-way K-shot задачу на train-классах.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Принцип: условия обучения должны совпадать с условиями тестирования.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Связь: при K = 0 FSL → ZSL.</a:t>
            </a:r>
            <a:endParaRPr lang="en-US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47946D-C651-046A-02A2-D6006D3A4B89}"/>
              </a:ext>
            </a:extLst>
          </p:cNvPr>
          <p:cNvSpPr txBox="1"/>
          <p:nvPr/>
        </p:nvSpPr>
        <p:spPr>
          <a:xfrm>
            <a:off x="463401" y="2699349"/>
            <a:ext cx="8316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400" dirty="0"/>
              <a:t>Задача: для каждого примера из </a:t>
            </a:r>
            <a:r>
              <a:rPr lang="ru-RU" sz="1400" dirty="0" err="1"/>
              <a:t>query</a:t>
            </a:r>
            <a:r>
              <a:rPr lang="ru-RU" sz="1400" dirty="0"/>
              <a:t> </a:t>
            </a:r>
            <a:r>
              <a:rPr lang="ru-RU" sz="1400" dirty="0" err="1"/>
              <a:t>set</a:t>
            </a:r>
            <a:r>
              <a:rPr lang="ru-RU" sz="1400" dirty="0"/>
              <a:t> определить, к какому из N классов он относится, используя только K примеров каждого класса.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История: Эпоха атрибутов (2006–2013)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 — Fei-Fei et al.: One-Shot Learning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Байесовский перенос знаний: опыт предыдущих категорий → априорное распределение → обучение по одному примеру. Первая работа, показавшая переносимость знаний между категориями.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 — Lampert et al.: DAP (Direct Attribute Prediction)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идея: если нет примеров нового класса, дать модели его описание через атрибуты, которые она уже умеет распознавать. Датасет AwA: 50 животных × 85 атрибутов.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 — Palatucci et al.: Semantic Output Codes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классов через «семантические коды» — координаты в любом семантическом пространстве. Первые теоретические PAC-гарантии для ZSL.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История: от эмбеддингов к CLIP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3152" cy="9601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822960" y="1389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2013–2016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0" y="13898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Эпоха эмбеддингов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171907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DeViSE: Word2Vec вместо ручных атрибутов. ALE, SJE: оптимизация проекции.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атрибутов решена — но остаётся domain shift.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73152" cy="9601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22960" y="2578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2017–2020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578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Эпоха генеративных моделей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290779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f-CLSWGAN: генерация CNN-признаков для unseen-классов через GAN.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Конвертирует ZSL в supervised learning.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73152" cy="9601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822960" y="3767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2021+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37673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Эпоха фундаментальных моделей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409651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CLIP: 400M пар (image, text). Один промпт — zero-shot на любых классах.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SigLIP, OWL-ViT, CoOp.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6097" y="4668399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Тенденция: ручные атрибуты (85 бинарных) → Word2Vec → естественный язык как интерфейс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F95B7A-C79B-1F41-428F-BA5FB01AA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56B992A-8DCD-2678-D9F3-B58AA621605B}"/>
              </a:ext>
            </a:extLst>
          </p:cNvPr>
          <p:cNvSpPr/>
          <p:nvPr/>
        </p:nvSpPr>
        <p:spPr>
          <a:xfrm>
            <a:off x="548640" y="576535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3200" b="1" dirty="0"/>
              <a:t>Метод прямого предсказания атрибутов (</a:t>
            </a:r>
            <a:r>
              <a:rPr lang="en-US" sz="3200" b="1" dirty="0"/>
              <a:t>Direct Attribute Prediction, DAP)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A644CB-7D68-EC75-F699-9BF1B1FA3CD2}"/>
              </a:ext>
            </a:extLst>
          </p:cNvPr>
          <p:cNvSpPr/>
          <p:nvPr/>
        </p:nvSpPr>
        <p:spPr>
          <a:xfrm>
            <a:off x="548640" y="1582375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400" b="1" dirty="0"/>
              <a:t>Как это работает</a:t>
            </a:r>
          </a:p>
          <a:p>
            <a:r>
              <a:rPr lang="ru-RU" sz="1400" dirty="0"/>
              <a:t>DAP — первый и наиболее интуитивно понятный метод ZSL. Идея: каждый класс описывается набором </a:t>
            </a:r>
            <a:r>
              <a:rPr lang="ru-RU" sz="1400" b="1" dirty="0"/>
              <a:t>семантических атрибутов</a:t>
            </a:r>
            <a:r>
              <a:rPr lang="ru-RU" sz="1400" dirty="0"/>
              <a:t> — бинарных свойств вроде «полосатый», «четвероногий», «водоплавающий».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1F2B3CD-9FB7-B06F-D50A-E02563786F3E}"/>
              </a:ext>
            </a:extLst>
          </p:cNvPr>
          <p:cNvSpPr/>
          <p:nvPr/>
        </p:nvSpPr>
        <p:spPr>
          <a:xfrm>
            <a:off x="548640" y="3214347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400" dirty="0"/>
              <a:t>Процесс состоит из двух этапов:</a:t>
            </a:r>
          </a:p>
          <a:p>
            <a:r>
              <a:rPr lang="ru-RU" sz="1400" b="1" dirty="0"/>
              <a:t>Этап обучения:</a:t>
            </a:r>
            <a:r>
              <a:rPr lang="ru-RU" sz="1400" dirty="0"/>
              <a:t> для каждого из M атрибутов обучается отдельный бинарный классификатор. Например, классификатор «полосатый» обучается на всех изображениях </a:t>
            </a:r>
            <a:r>
              <a:rPr lang="ru-RU" sz="1400" dirty="0" err="1"/>
              <a:t>seen</a:t>
            </a:r>
            <a:r>
              <a:rPr lang="ru-RU" sz="1400" dirty="0"/>
              <a:t>-классов: для зебры и тигра выход = 1, для медведя и слона = 0. После обучения есть M классификаторов, каждый из которых умеет определять один атрибут по изображению.</a:t>
            </a:r>
            <a:endParaRPr lang="en-US" sz="1400" dirty="0"/>
          </a:p>
          <a:p>
            <a:endParaRPr lang="ru-RU" sz="1400" dirty="0"/>
          </a:p>
          <a:p>
            <a:r>
              <a:rPr lang="ru-RU" sz="1400" b="1" dirty="0"/>
              <a:t>Этап тестирования:</a:t>
            </a:r>
            <a:r>
              <a:rPr lang="ru-RU" sz="1400" dirty="0"/>
              <a:t> новое изображение прогоняется через все M классификаторов. Получаем вектор предсказанных атрибутов. Сравниваем его с описаниями всех </a:t>
            </a:r>
            <a:r>
              <a:rPr lang="ru-RU" sz="1400" dirty="0" err="1"/>
              <a:t>unseen</a:t>
            </a:r>
            <a:r>
              <a:rPr lang="ru-RU" sz="1400" dirty="0"/>
              <a:t>-классов и выбираем наиболее похожий.</a:t>
            </a:r>
          </a:p>
        </p:txBody>
      </p:sp>
    </p:spTree>
    <p:extLst>
      <p:ext uri="{BB962C8B-B14F-4D97-AF65-F5344CB8AC3E}">
        <p14:creationId xmlns:p14="http://schemas.microsoft.com/office/powerpoint/2010/main" val="3612336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DAP: математическая формулировка</a:t>
            </a:r>
            <a:endParaRPr 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/>
              <p:nvPr/>
            </p:nvSpPr>
            <p:spPr>
              <a:xfrm>
                <a:off x="548640" y="1334403"/>
                <a:ext cx="804672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ru-RU" sz="1400" dirty="0"/>
                  <a:t>Каждый </a:t>
                </a:r>
                <a:r>
                  <a:rPr lang="en-US" sz="1400" dirty="0"/>
                  <a:t>unseen-</a:t>
                </a:r>
                <a:r>
                  <a:rPr lang="ru-RU" sz="1400" dirty="0"/>
                  <a:t>класс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ru-RU" sz="1400" dirty="0"/>
                  <a:t>описан бинарным вектором атрибутов: </a:t>
                </a:r>
              </a:p>
            </p:txBody>
          </p:sp>
        </mc:Choice>
        <mc:Fallback xmlns="">
          <p:sp>
            <p:nvSpPr>
              <p:cNvPr id="3" name="Tex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334403"/>
                <a:ext cx="8046720" cy="274320"/>
              </a:xfrm>
              <a:prstGeom prst="rect">
                <a:avLst/>
              </a:prstGeom>
              <a:blipFill>
                <a:blip r:embed="rId3"/>
                <a:stretch>
                  <a:fillRect l="-1364" b="-37778"/>
                </a:stretch>
              </a:blipFill>
              <a:ln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548640" y="2377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400" dirty="0"/>
              <a:t>Предсказание класса — это поиск </a:t>
            </a:r>
            <a:r>
              <a:rPr lang="en-US" sz="1400" dirty="0"/>
              <a:t>unseen-</a:t>
            </a:r>
            <a:r>
              <a:rPr lang="ru-RU" sz="1400" dirty="0"/>
              <a:t>класса, чей вектор атрибутов </a:t>
            </a:r>
            <a:r>
              <a:rPr lang="ru-RU" sz="1400" b="1" dirty="0"/>
              <a:t>наиболее вероятен</a:t>
            </a:r>
            <a:r>
              <a:rPr lang="ru-RU" sz="1400" dirty="0"/>
              <a:t> при данном изображении: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400" b="1" dirty="0"/>
              <a:t>В логарифмической форме</a:t>
            </a:r>
            <a:r>
              <a:rPr lang="ru-RU" sz="1400" dirty="0"/>
              <a:t> (для вычислительной стабильности — произведение многих чисел &lt; 1 быстро обнуляется):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35580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aₘʸ ∈ {0,1}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— значение m-го атрибута для класса y (напр. «полосатый» для зебры = 1)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p(aₘ|x)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— вероятность, что модель видит атрибут m на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изображении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x</a:t>
            </a:r>
            <a:endParaRPr lang="en-US" sz="1100" dirty="0"/>
          </a:p>
        </p:txBody>
      </p:sp>
      <p:pic>
        <p:nvPicPr>
          <p:cNvPr id="14" name="Рисунок 13" descr="Изображение выглядит как Шрифт, типография, рукописный текст, калли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B3C0452-8B05-FC0E-1DDC-B51003BA3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6670" y="1737769"/>
            <a:ext cx="3130660" cy="477132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текст, Шрифт, белый, рукописный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15D1F3B-AF84-05C5-428D-3D7E84E1D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2203" y="2845775"/>
            <a:ext cx="3719594" cy="567828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8D7DE62-0725-43B7-E424-5915D28999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9539" y="3842645"/>
            <a:ext cx="5284922" cy="6499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ZSL: Direct Attribute Prediction (DAP)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Lampert et al. — CVPR 2009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класс описан вектором атрибутов. Модель предсказывает атрибуты → сравнивает с описаниями.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865372"/>
              </p:ext>
            </p:extLst>
          </p:nvPr>
        </p:nvGraphicFramePr>
        <p:xfrm>
          <a:off x="1405625" y="1828800"/>
          <a:ext cx="6693865" cy="1463040"/>
        </p:xfrm>
        <a:graphic>
          <a:graphicData uri="http://schemas.openxmlformats.org/drawingml/2006/table">
            <a:tbl>
              <a:tblPr/>
              <a:tblGrid>
                <a:gridCol w="1338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87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87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87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706" marR="121706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Полосатый</a:t>
                      </a:r>
                    </a:p>
                  </a:txBody>
                  <a:tcPr marL="121706" marR="121706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4-ногий</a:t>
                      </a:r>
                    </a:p>
                  </a:txBody>
                  <a:tcPr marL="121706" marR="121706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Водоплав.</a:t>
                      </a:r>
                    </a:p>
                  </a:txBody>
                  <a:tcPr marL="121706" marR="121706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Ч/б</a:t>
                      </a:r>
                    </a:p>
                  </a:txBody>
                  <a:tcPr marL="121706" marR="121706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Зебра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706" marR="121706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706" marR="121706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706" marR="121706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706" marR="121706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706" marR="121706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Пингвин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706" marR="121706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706" marR="121706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706" marR="121706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706" marR="121706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706" marR="121706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Тигр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706" marR="121706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706" marR="121706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706" marR="121706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706" marR="121706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706" marR="121706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931920"/>
            <a:ext cx="1463040" cy="685800"/>
          </a:xfrm>
          <a:prstGeom prst="rect">
            <a:avLst/>
          </a:prstGeom>
          <a:solidFill>
            <a:srgbClr val="DBEAFE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Изобр. x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011680" y="393192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77777"/>
                </a:solidFill>
              </a:rPr>
              <a:t>→</a:t>
            </a:r>
            <a:endParaRPr lang="en-US" sz="1600" dirty="0"/>
          </a:p>
        </p:txBody>
      </p:sp>
      <p:sp>
        <p:nvSpPr>
          <p:cNvPr id="5" name="Shape 7"/>
          <p:cNvSpPr/>
          <p:nvPr/>
        </p:nvSpPr>
        <p:spPr>
          <a:xfrm>
            <a:off x="2286000" y="3931920"/>
            <a:ext cx="146304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1" name="Text 8"/>
          <p:cNvSpPr/>
          <p:nvPr/>
        </p:nvSpPr>
        <p:spPr>
          <a:xfrm>
            <a:off x="2286000" y="39319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классиф.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атрибутов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749040" y="393192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77777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023360" y="3931920"/>
            <a:ext cx="146304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4" name="Text 11"/>
          <p:cNvSpPr/>
          <p:nvPr/>
        </p:nvSpPr>
        <p:spPr>
          <a:xfrm>
            <a:off x="4023360" y="39319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0" y="393192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77777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760720" y="3931920"/>
            <a:ext cx="146304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7" name="Text 14"/>
          <p:cNvSpPr/>
          <p:nvPr/>
        </p:nvSpPr>
        <p:spPr>
          <a:xfrm>
            <a:off x="5760720" y="39319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aʸ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223760" y="393192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77777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498080" y="3931920"/>
            <a:ext cx="1463040" cy="685800"/>
          </a:xfrm>
          <a:prstGeom prst="rect">
            <a:avLst/>
          </a:prstGeom>
          <a:solidFill>
            <a:srgbClr val="DCFCE7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0" name="Text 17"/>
          <p:cNvSpPr/>
          <p:nvPr/>
        </p:nvSpPr>
        <p:spPr>
          <a:xfrm>
            <a:off x="7498080" y="39319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ŷ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Embedding-подходы: DeViSE, ALE, SJE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517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200" dirty="0"/>
              <a:t>Все </a:t>
            </a:r>
            <a:r>
              <a:rPr lang="ru-RU" sz="1200" dirty="0" err="1"/>
              <a:t>embedding</a:t>
            </a:r>
            <a:r>
              <a:rPr lang="ru-RU" sz="1200" dirty="0"/>
              <a:t>-подходы решают одну задачу: </a:t>
            </a:r>
            <a:r>
              <a:rPr lang="ru-RU" sz="1200" b="1" dirty="0"/>
              <a:t>научить проекцию из визуального пространства в семантическое</a:t>
            </a:r>
            <a:r>
              <a:rPr lang="ru-RU" sz="1200" dirty="0"/>
              <a:t>, чтобы изображение зебры оказалось рядом с описанием «зебры».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400" dirty="0"/>
              <a:t>Общая формула совместимости (одинаковая для </a:t>
            </a:r>
            <a:r>
              <a:rPr lang="ru-RU" sz="1400" dirty="0" err="1"/>
              <a:t>DeViSE</a:t>
            </a:r>
            <a:r>
              <a:rPr lang="ru-RU" sz="1400" dirty="0"/>
              <a:t>, ALE, SJE):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— только в функции потерь: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450827"/>
              </p:ext>
            </p:extLst>
          </p:nvPr>
        </p:nvGraphicFramePr>
        <p:xfrm>
          <a:off x="1590281" y="2834640"/>
          <a:ext cx="6236208" cy="1600200"/>
        </p:xfrm>
        <a:graphic>
          <a:graphicData uri="http://schemas.openxmlformats.org/drawingml/2006/table">
            <a:tbl>
              <a:tblPr/>
              <a:tblGrid>
                <a:gridCol w="120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Идея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Hinge 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Правильный класс ближе на отступ 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WARP ranking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Больший штраф за ошибки вверху списка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Struct. 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Штраф ∝ серьёзности ошибки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Рисунок 8" descr="Изображение выглядит как Шрифт, типография, каллиграфия, рукописный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B79D4F0-460A-E7BF-6617-BAC38117E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904" y="1775222"/>
            <a:ext cx="2836192" cy="4005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C21AC2F-7154-2E14-2363-E387C5228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63" y="585510"/>
            <a:ext cx="7335274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561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Генеративный подход: f-CLSWGAN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Xian et al. — CVPR 2018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Идея: нет данных для unseen-классов → сгенерируем CNN-признаки (2048-dim) через условный GAN.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371600" cy="731520"/>
          </a:xfrm>
          <a:prstGeom prst="rect">
            <a:avLst/>
          </a:prstGeom>
          <a:solidFill>
            <a:srgbClr val="DBEAFE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 z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c(y)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1828800"/>
            <a:ext cx="1645920" cy="731520"/>
          </a:xfrm>
          <a:prstGeom prst="rect">
            <a:avLst/>
          </a:prstGeom>
          <a:solidFill>
            <a:srgbClr val="DCFCE7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8" name="Text 6"/>
          <p:cNvSpPr/>
          <p:nvPr/>
        </p:nvSpPr>
        <p:spPr>
          <a:xfrm>
            <a:off x="219456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 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(MLP 4096)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0" y="1828800"/>
            <a:ext cx="1371600" cy="731520"/>
          </a:xfrm>
          <a:prstGeom prst="rect">
            <a:avLst/>
          </a:prstGeom>
          <a:solidFill>
            <a:srgbClr val="FEF3C7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0" name="Text 8"/>
          <p:cNvSpPr/>
          <p:nvPr/>
        </p:nvSpPr>
        <p:spPr>
          <a:xfrm>
            <a:off x="4114800" y="18288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x̃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(2048-dim)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0" y="1828800"/>
            <a:ext cx="1645920" cy="731520"/>
          </a:xfrm>
          <a:prstGeom prst="rect">
            <a:avLst/>
          </a:prstGeom>
          <a:solidFill>
            <a:srgbClr val="FECAC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2" name="Text 10"/>
          <p:cNvSpPr/>
          <p:nvPr/>
        </p:nvSpPr>
        <p:spPr>
          <a:xfrm>
            <a:off x="576072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Дискримин. 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(MLP 4096)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182880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77777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182880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77777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92601" y="182880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77777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latin typeface="+mj-lt"/>
                <a:ea typeface="Consolas" pitchFamily="34" charset="-122"/>
                <a:cs typeface="Consolas" pitchFamily="34" charset="-120"/>
              </a:rPr>
              <a:t>L_WGAN</a:t>
            </a:r>
            <a:r>
              <a:rPr lang="en-US" sz="1300" dirty="0">
                <a:latin typeface="+mj-lt"/>
                <a:ea typeface="Calibri" pitchFamily="34" charset="-122"/>
                <a:cs typeface="Calibri" pitchFamily="34" charset="-120"/>
              </a:rPr>
              <a:t> — Wasserstein loss: сгенерированные признаки неотличимы от реальных</a:t>
            </a:r>
            <a:endParaRPr lang="en-US" sz="1300" dirty="0">
              <a:latin typeface="+mj-lt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latin typeface="+mj-lt"/>
                <a:ea typeface="Consolas" pitchFamily="34" charset="-122"/>
                <a:cs typeface="Consolas" pitchFamily="34" charset="-120"/>
              </a:rPr>
              <a:t>L_CLS</a:t>
            </a:r>
            <a:r>
              <a:rPr lang="en-US" sz="1300" dirty="0">
                <a:latin typeface="+mj-lt"/>
                <a:ea typeface="Calibri" pitchFamily="34" charset="-122"/>
                <a:cs typeface="Calibri" pitchFamily="34" charset="-120"/>
              </a:rPr>
              <a:t> = −E[log P(y|x̃)] — классификационный: сгенерированные должны быть классифицируемы</a:t>
            </a:r>
            <a:endParaRPr lang="en-US" sz="1300" dirty="0">
              <a:latin typeface="+mj-lt"/>
            </a:endParaRPr>
          </a:p>
        </p:txBody>
      </p:sp>
      <p:pic>
        <p:nvPicPr>
          <p:cNvPr id="22" name="Рисунок 21" descr="Изображение выглядит как Шрифт, текст, белый, типо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C527E76-4DBD-5633-FDB2-3A0B0CAAD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149" y="2783308"/>
            <a:ext cx="2727702" cy="48183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5D62C0E-C920-2FEE-8E9F-18EEDB12E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68" y="590273"/>
            <a:ext cx="6897063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29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CLIP: революция в Zero-Shot CV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Radford et al. — ICML 2021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41341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300" dirty="0" err="1">
                <a:solidFill>
                  <a:srgbClr val="2D2D2D"/>
                </a:solidFill>
                <a:latin typeface="+mj-lt"/>
                <a:ea typeface="Calibri" pitchFamily="34" charset="-122"/>
                <a:cs typeface="Calibri" pitchFamily="34" charset="-120"/>
              </a:rPr>
              <a:t>Обучен</a:t>
            </a:r>
            <a:r>
              <a:rPr lang="en-US" sz="1300" dirty="0">
                <a:solidFill>
                  <a:srgbClr val="2D2D2D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D2D2D"/>
                </a:solidFill>
                <a:latin typeface="+mj-lt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300" dirty="0">
                <a:solidFill>
                  <a:srgbClr val="2D2D2D"/>
                </a:solidFill>
                <a:latin typeface="+mj-lt"/>
                <a:ea typeface="Calibri" pitchFamily="34" charset="-122"/>
                <a:cs typeface="Calibri" pitchFamily="34" charset="-120"/>
              </a:rPr>
              <a:t> ~400M </a:t>
            </a:r>
            <a:r>
              <a:rPr lang="en-US" sz="1300" dirty="0" err="1">
                <a:solidFill>
                  <a:srgbClr val="2D2D2D"/>
                </a:solidFill>
                <a:latin typeface="+mj-lt"/>
                <a:ea typeface="Calibri" pitchFamily="34" charset="-122"/>
                <a:cs typeface="Calibri" pitchFamily="34" charset="-120"/>
              </a:rPr>
              <a:t>пар</a:t>
            </a:r>
            <a:r>
              <a:rPr lang="en-US" sz="1300" dirty="0">
                <a:solidFill>
                  <a:srgbClr val="2D2D2D"/>
                </a:solidFill>
                <a:latin typeface="+mj-lt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00" dirty="0" err="1">
                <a:solidFill>
                  <a:srgbClr val="2D2D2D"/>
                </a:solidFill>
                <a:latin typeface="+mj-lt"/>
                <a:ea typeface="Calibri" pitchFamily="34" charset="-122"/>
                <a:cs typeface="Calibri" pitchFamily="34" charset="-120"/>
              </a:rPr>
              <a:t>изображение</a:t>
            </a:r>
            <a:r>
              <a:rPr lang="en-US" sz="1300" dirty="0">
                <a:solidFill>
                  <a:srgbClr val="2D2D2D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2D2D2D"/>
                </a:solidFill>
                <a:latin typeface="+mj-lt"/>
                <a:ea typeface="Calibri" pitchFamily="34" charset="-122"/>
                <a:cs typeface="Calibri" pitchFamily="34" charset="-120"/>
              </a:rPr>
              <a:t>текст</a:t>
            </a:r>
            <a:r>
              <a:rPr lang="en-US" sz="1300" dirty="0">
                <a:solidFill>
                  <a:srgbClr val="2D2D2D"/>
                </a:solidFill>
                <a:latin typeface="+mj-lt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300" dirty="0" err="1">
                <a:solidFill>
                  <a:srgbClr val="2D2D2D"/>
                </a:solidFill>
                <a:latin typeface="+mj-lt"/>
                <a:ea typeface="Calibri" pitchFamily="34" charset="-122"/>
                <a:cs typeface="Calibri" pitchFamily="34" charset="-120"/>
              </a:rPr>
              <a:t>из</a:t>
            </a:r>
            <a:r>
              <a:rPr lang="en-US" sz="1300" dirty="0">
                <a:solidFill>
                  <a:srgbClr val="2D2D2D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D2D2D"/>
                </a:solidFill>
                <a:latin typeface="+mj-lt"/>
                <a:ea typeface="Calibri" pitchFamily="34" charset="-122"/>
                <a:cs typeface="Calibri" pitchFamily="34" charset="-120"/>
              </a:rPr>
              <a:t>интернета</a:t>
            </a:r>
            <a:r>
              <a:rPr lang="en-US" sz="1300" dirty="0">
                <a:solidFill>
                  <a:srgbClr val="2D2D2D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br>
              <a:rPr lang="en-US" sz="1300" dirty="0">
                <a:latin typeface="+mj-lt"/>
              </a:rPr>
            </a:br>
            <a:r>
              <a:rPr lang="ru-RU" sz="1400" dirty="0">
                <a:latin typeface="+mj-lt"/>
              </a:rPr>
              <a:t>CLIP состоит из </a:t>
            </a:r>
            <a:r>
              <a:rPr lang="ru-RU" sz="1400" b="1" dirty="0">
                <a:latin typeface="+mj-lt"/>
              </a:rPr>
              <a:t>двух независимых энкодеров</a:t>
            </a:r>
            <a:r>
              <a:rPr lang="ru-RU" sz="1400" dirty="0">
                <a:latin typeface="+mj-lt"/>
              </a:rPr>
              <a:t>: визуального (кодирует изображение в вектор) и текстового (кодирует текст в вектор). Они не связаны архитектурно (нет </a:t>
            </a:r>
            <a:r>
              <a:rPr lang="ru-RU" sz="1400" dirty="0" err="1">
                <a:latin typeface="+mj-lt"/>
              </a:rPr>
              <a:t>cross-attention</a:t>
            </a:r>
            <a:r>
              <a:rPr lang="ru-RU" sz="1400" dirty="0">
                <a:latin typeface="+mj-lt"/>
              </a:rPr>
              <a:t>), но обучаются совместно.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300" dirty="0">
              <a:latin typeface="+mj-lt"/>
            </a:endParaRPr>
          </a:p>
        </p:txBody>
      </p:sp>
      <p:pic>
        <p:nvPicPr>
          <p:cNvPr id="16" name="Рисунок 15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983D9C6-E3FD-60BB-5389-AF0ED6EEF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62" y="2194855"/>
            <a:ext cx="7591070" cy="255175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07A03A-F7BE-34FC-71D6-38A01ADF3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7C8A18-B67C-753B-0AE3-F92D12420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45" y="159025"/>
            <a:ext cx="4023073" cy="4674373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6132FBF-1386-9BC6-97D1-3795E5FDB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682" y="2086720"/>
            <a:ext cx="4501189" cy="183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040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3200" b="1" dirty="0"/>
              <a:t>Обучение </a:t>
            </a:r>
            <a:r>
              <a:rPr lang="en-US" sz="3200" b="1" dirty="0"/>
              <a:t>CLIP: </a:t>
            </a:r>
            <a:r>
              <a:rPr lang="ru-RU" sz="3200" b="1" dirty="0" err="1"/>
              <a:t>контрастивный</a:t>
            </a:r>
            <a:r>
              <a:rPr lang="ru-RU" sz="3200" b="1" dirty="0"/>
              <a:t> </a:t>
            </a:r>
            <a:r>
              <a:rPr lang="en-US" sz="3200" b="1" dirty="0"/>
              <a:t>loss</a:t>
            </a:r>
            <a:endParaRPr lang="en-US" sz="3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/>
              <p:nvPr/>
            </p:nvSpPr>
            <p:spPr>
              <a:xfrm>
                <a:off x="548640" y="1280160"/>
                <a:ext cx="804672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400" dirty="0"/>
                  <a:t>CLIP </a:t>
                </a:r>
                <a:r>
                  <a:rPr lang="ru-RU" sz="1400" dirty="0"/>
                  <a:t>обучается на </a:t>
                </a:r>
                <a:r>
                  <a:rPr lang="ru-RU" sz="1400" dirty="0" err="1"/>
                  <a:t>батче</a:t>
                </a:r>
                <a:r>
                  <a:rPr lang="ru-RU" sz="1400" dirty="0"/>
                  <a:t> из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sz="1400" dirty="0"/>
                  <a:t>пар (изображение, текст). Строится матрица косинусных сходств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>
                        <a:latin typeface="Cambria Math" panose="02040503050406030204" pitchFamily="18" charset="0"/>
                      </a:rPr>
                      <m:t>×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sz="1400" dirty="0"/>
                  <a:t>: каждое изображение сравнивается с каждым текстом. </a:t>
                </a:r>
              </a:p>
            </p:txBody>
          </p:sp>
        </mc:Choice>
        <mc:Fallback xmlns="">
          <p:sp>
            <p:nvSpPr>
              <p:cNvPr id="3" name="Tex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280160"/>
                <a:ext cx="8046720" cy="274320"/>
              </a:xfrm>
              <a:prstGeom prst="rect">
                <a:avLst/>
              </a:prstGeom>
              <a:blipFill>
                <a:blip r:embed="rId3"/>
                <a:stretch>
                  <a:fillRect l="-1364" t="-37778" b="-77778"/>
                </a:stretch>
              </a:blipFill>
              <a:ln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Рисунок 12" descr="Изображение выглядит как Шрифт, рукописный текст, каллиграфия, типо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49EFCC1-2E00-5454-B241-9A9C8AEAC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895" y="1835395"/>
            <a:ext cx="2650210" cy="386788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текст, чек, Шрифт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441CF5F-A827-F359-23E5-A0424E9E45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444776"/>
            <a:ext cx="7172076" cy="14185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D3617A-EA12-F86A-B498-B91494AFD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Шрифт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DE17368-8244-C788-5E65-5CD140D97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53" y="563534"/>
            <a:ext cx="7887694" cy="401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680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CLIP: Zero-Shot инференс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6449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400" dirty="0"/>
              <a:t>При </a:t>
            </a:r>
            <a:r>
              <a:rPr lang="ru-RU" sz="1400" dirty="0" err="1"/>
              <a:t>инференсе</a:t>
            </a:r>
            <a:r>
              <a:rPr lang="ru-RU" sz="1400" dirty="0"/>
              <a:t> модель </a:t>
            </a:r>
            <a:r>
              <a:rPr lang="ru-RU" sz="1400" b="1" dirty="0"/>
              <a:t>не переобучается</a:t>
            </a:r>
            <a:r>
              <a:rPr lang="ru-RU" sz="1400" dirty="0"/>
              <a:t>. Алгоритм:</a:t>
            </a:r>
          </a:p>
        </p:txBody>
      </p:sp>
      <p:sp>
        <p:nvSpPr>
          <p:cNvPr id="10" name="Text 8"/>
          <p:cNvSpPr/>
          <p:nvPr/>
        </p:nvSpPr>
        <p:spPr>
          <a:xfrm>
            <a:off x="548640" y="3974541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/>
              <a:t>Prompt engineering</a:t>
            </a:r>
            <a:r>
              <a:rPr lang="en-US" sz="1400" dirty="0"/>
              <a:t> (</a:t>
            </a:r>
            <a:r>
              <a:rPr lang="ru-RU" sz="1400" dirty="0"/>
              <a:t>инженерия промптов) существенно влияет на качество. Вместо одного шаблона можно использовать ансамбль: «</a:t>
            </a:r>
            <a:r>
              <a:rPr lang="en-US" sz="1400" dirty="0"/>
              <a:t>A photo of a {class}», «A blurry photo of a {class}», «A photo of the large {class}» </a:t>
            </a:r>
            <a:r>
              <a:rPr lang="ru-RU" sz="1400" dirty="0"/>
              <a:t>и т.д. (до 80 шаблонов в оригинальной статье). </a:t>
            </a:r>
            <a:r>
              <a:rPr lang="ru-RU" sz="1400" dirty="0" err="1"/>
              <a:t>Эмбеддинги</a:t>
            </a:r>
            <a:r>
              <a:rPr lang="ru-RU" sz="1400" dirty="0"/>
              <a:t> усредняются — это повышает </a:t>
            </a:r>
            <a:r>
              <a:rPr lang="en-US" sz="1400" dirty="0"/>
              <a:t>accuracy.</a:t>
            </a:r>
          </a:p>
        </p:txBody>
      </p:sp>
      <p:pic>
        <p:nvPicPr>
          <p:cNvPr id="12" name="Рисунок 11" descr="Изображение выглядит как текст, Шрифт, снимок экрана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AE218D9-5018-AE0E-7E15-127FA1B74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47929"/>
            <a:ext cx="5264883" cy="1504252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Шрифт, текст, белый, калли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E4372C0-48B8-D34B-6D8B-21136B841A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2136" y="3125249"/>
            <a:ext cx="2479728" cy="54216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SigLIP: улучшение CLIP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Zhai et al. — 2023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/>
              <a:t>SigLIP</a:t>
            </a:r>
            <a:r>
              <a:rPr lang="en-US" sz="1400" dirty="0"/>
              <a:t> (Sigmoid Loss for Language-Image Pre-training) — </a:t>
            </a:r>
            <a:r>
              <a:rPr lang="ru-RU" sz="1400" dirty="0"/>
              <a:t>модель с архитектурой, </a:t>
            </a:r>
            <a:r>
              <a:rPr lang="ru-RU" sz="1400" b="1" dirty="0"/>
              <a:t>идентичной </a:t>
            </a:r>
            <a:r>
              <a:rPr lang="en-US" sz="1400" b="1" dirty="0"/>
              <a:t>CLIP</a:t>
            </a:r>
            <a:r>
              <a:rPr lang="en-US" sz="1400" dirty="0"/>
              <a:t>, </a:t>
            </a:r>
            <a:r>
              <a:rPr lang="ru-RU" sz="1400" dirty="0"/>
              <a:t>но с другой функцией потерь.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200" b="1" dirty="0"/>
              <a:t>Проблема CLIP:</a:t>
            </a:r>
            <a:r>
              <a:rPr lang="ru-RU" sz="1200" dirty="0"/>
              <a:t> </a:t>
            </a:r>
            <a:r>
              <a:rPr lang="ru-RU" sz="1200" dirty="0" err="1"/>
              <a:t>softmax-based</a:t>
            </a:r>
            <a:r>
              <a:rPr lang="ru-RU" sz="1200" dirty="0"/>
              <a:t> </a:t>
            </a:r>
            <a:r>
              <a:rPr lang="ru-RU" sz="1200" dirty="0" err="1"/>
              <a:t>контрастивный</a:t>
            </a:r>
            <a:r>
              <a:rPr lang="ru-RU" sz="1200" dirty="0"/>
              <a:t> </a:t>
            </a:r>
            <a:r>
              <a:rPr lang="ru-RU" sz="1200" dirty="0" err="1"/>
              <a:t>loss</a:t>
            </a:r>
            <a:r>
              <a:rPr lang="ru-RU" sz="1200" dirty="0"/>
              <a:t> требует </a:t>
            </a:r>
            <a:r>
              <a:rPr lang="ru-RU" sz="1200" b="1" dirty="0"/>
              <a:t>глобальной нормализации</a:t>
            </a:r>
            <a:r>
              <a:rPr lang="ru-RU" sz="1200" dirty="0"/>
              <a:t> по всему </a:t>
            </a:r>
            <a:r>
              <a:rPr lang="ru-RU" sz="1200" dirty="0" err="1"/>
              <a:t>батчу</a:t>
            </a:r>
            <a:r>
              <a:rPr lang="ru-RU" sz="1200" dirty="0"/>
              <a:t> — каждый пример зависит от всех остальных в </a:t>
            </a:r>
            <a:r>
              <a:rPr lang="ru-RU" sz="1200" dirty="0" err="1"/>
              <a:t>батче</a:t>
            </a:r>
            <a:r>
              <a:rPr lang="ru-RU" sz="1200" dirty="0"/>
              <a:t>. Это: (а) ограничивает масштабирование; (б) требует больших </a:t>
            </a:r>
            <a:r>
              <a:rPr lang="ru-RU" sz="1200" dirty="0" err="1"/>
              <a:t>батчей</a:t>
            </a:r>
            <a:r>
              <a:rPr lang="ru-RU" sz="1200" dirty="0"/>
              <a:t> для хорошей работы.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400" b="1" dirty="0"/>
              <a:t>Решение </a:t>
            </a:r>
            <a:r>
              <a:rPr lang="en-US" sz="1400" b="1" dirty="0" err="1"/>
              <a:t>SigLIP</a:t>
            </a:r>
            <a:r>
              <a:rPr lang="en-US" sz="1400" b="1" dirty="0"/>
              <a:t>:</a:t>
            </a:r>
            <a:r>
              <a:rPr lang="en-US" sz="1400" dirty="0"/>
              <a:t> </a:t>
            </a:r>
            <a:r>
              <a:rPr lang="ru-RU" sz="1400" dirty="0"/>
              <a:t>заменить </a:t>
            </a:r>
            <a:r>
              <a:rPr lang="en-US" sz="1400" dirty="0" err="1"/>
              <a:t>softmax</a:t>
            </a:r>
            <a:r>
              <a:rPr lang="en-US" sz="1400" dirty="0"/>
              <a:t> </a:t>
            </a:r>
            <a:r>
              <a:rPr lang="ru-RU" sz="1400" dirty="0"/>
              <a:t>на </a:t>
            </a:r>
            <a:r>
              <a:rPr lang="en-US" sz="1400" b="1" dirty="0"/>
              <a:t>sigmoid</a:t>
            </a:r>
            <a:r>
              <a:rPr lang="en-US" sz="1400" dirty="0"/>
              <a:t> — </a:t>
            </a:r>
            <a:r>
              <a:rPr lang="ru-RU" sz="1400" dirty="0"/>
              <a:t>каждая пара (</a:t>
            </a:r>
            <a:r>
              <a:rPr lang="en-US" sz="1400" dirty="0"/>
              <a:t>image, text) </a:t>
            </a:r>
            <a:r>
              <a:rPr lang="ru-RU" sz="1400" dirty="0"/>
              <a:t>оценивается </a:t>
            </a:r>
            <a:r>
              <a:rPr lang="ru-RU" sz="1400" b="1" dirty="0"/>
              <a:t>независимо</a:t>
            </a:r>
            <a:r>
              <a:rPr lang="ru-RU" sz="1400" dirty="0"/>
              <a:t>:</a:t>
            </a:r>
          </a:p>
        </p:txBody>
      </p:sp>
      <p:pic>
        <p:nvPicPr>
          <p:cNvPr id="14" name="Рисунок 13" descr="Изображение выглядит как текст, Шрифт, линия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5AD9919-208D-F283-7197-CC5C5DAAD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994" y="3059771"/>
            <a:ext cx="4618494" cy="767166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текст, Шрифт, чек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7C396A8-B457-5C47-B06E-9911154B8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74276"/>
            <a:ext cx="6332607" cy="1193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OWL-ViT: Zero-Shot Object Detection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Minderer et al. — ECCV 2022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классифицирует всё изображение. OWL-ViT находит и локализует объекты по текстовому запросу.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CLIP для детекции: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Убрать final pooling из ViT → каждый patch token = потенциальный объект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 каждому токену: Classification head + Box head (лёгкие MLP)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Classification: cos(patch_embedding, text_embedding) → score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371600" cy="731520"/>
          </a:xfrm>
          <a:prstGeom prst="rect">
            <a:avLst/>
          </a:prstGeom>
          <a:solidFill>
            <a:srgbClr val="DBEAFE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3200400"/>
            <a:ext cx="1463040" cy="73152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0" name="Text 8"/>
          <p:cNvSpPr/>
          <p:nvPr/>
        </p:nvSpPr>
        <p:spPr>
          <a:xfrm>
            <a:off x="2194560" y="32004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3200400"/>
            <a:ext cx="2011680" cy="731520"/>
          </a:xfrm>
          <a:prstGeom prst="rect">
            <a:avLst/>
          </a:prstGeom>
          <a:solidFill>
            <a:srgbClr val="DCFCE7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2" name="Text 10"/>
          <p:cNvSpPr/>
          <p:nvPr/>
        </p:nvSpPr>
        <p:spPr>
          <a:xfrm>
            <a:off x="3931920" y="3200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head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3200400"/>
            <a:ext cx="1188720" cy="731520"/>
          </a:xfrm>
          <a:prstGeom prst="rect">
            <a:avLst/>
          </a:prstGeom>
          <a:solidFill>
            <a:srgbClr val="FECAC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4" name="Text 12"/>
          <p:cNvSpPr/>
          <p:nvPr/>
        </p:nvSpPr>
        <p:spPr>
          <a:xfrm>
            <a:off x="6217920" y="32004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→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320040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77777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0" y="320040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77777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0" y="320040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77777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89520" y="32004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queries: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«a cat»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«a remote»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OWLv2 (NeurIPS 2023): + objectness head + self-training (1B+ примеров)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ZSL в NLP: NLI-подход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Yin, Hay, Roth — EMNLP 2019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907843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400" b="1" dirty="0"/>
              <a:t>От классификации к локализации</a:t>
            </a:r>
          </a:p>
          <a:p>
            <a:r>
              <a:rPr lang="ru-RU" sz="1400" dirty="0"/>
              <a:t>CLIP классифицирует </a:t>
            </a:r>
            <a:r>
              <a:rPr lang="ru-RU" sz="1400" b="1" dirty="0"/>
              <a:t>всё изображение целиком</a:t>
            </a:r>
            <a:r>
              <a:rPr lang="ru-RU" sz="1400" dirty="0"/>
              <a:t>: «на этом изображении кошка». Но часто нужно не только определить </a:t>
            </a:r>
            <a:r>
              <a:rPr lang="ru-RU" sz="1400" b="1" dirty="0"/>
              <a:t>что</a:t>
            </a:r>
            <a:r>
              <a:rPr lang="ru-RU" sz="1400" dirty="0"/>
              <a:t> на изображении, но и </a:t>
            </a:r>
            <a:r>
              <a:rPr lang="ru-RU" sz="1400" b="1" dirty="0"/>
              <a:t>где</a:t>
            </a:r>
            <a:r>
              <a:rPr lang="ru-RU" sz="1400" dirty="0"/>
              <a:t> — найти и обвести объект рамкой (</a:t>
            </a:r>
            <a:r>
              <a:rPr lang="ru-RU" sz="1400" dirty="0" err="1"/>
              <a:t>bounding</a:t>
            </a:r>
            <a:r>
              <a:rPr lang="ru-RU" sz="1400" dirty="0"/>
              <a:t> </a:t>
            </a:r>
            <a:r>
              <a:rPr lang="ru-RU" sz="1400" dirty="0" err="1"/>
              <a:t>box</a:t>
            </a:r>
            <a:r>
              <a:rPr lang="ru-RU" sz="1400" dirty="0"/>
              <a:t>). Это задача </a:t>
            </a:r>
            <a:r>
              <a:rPr lang="ru-RU" sz="1400" b="1" dirty="0" err="1"/>
              <a:t>object</a:t>
            </a:r>
            <a:r>
              <a:rPr lang="ru-RU" sz="1400" b="1" dirty="0"/>
              <a:t> </a:t>
            </a:r>
            <a:r>
              <a:rPr lang="ru-RU" sz="1400" b="1" dirty="0" err="1"/>
              <a:t>detection</a:t>
            </a:r>
            <a:r>
              <a:rPr lang="ru-RU" sz="1400" dirty="0"/>
              <a:t> (обнаружение объектов).</a:t>
            </a:r>
          </a:p>
          <a:p>
            <a:r>
              <a:rPr lang="ru-RU" sz="1400" dirty="0"/>
              <a:t>OWL-</a:t>
            </a:r>
            <a:r>
              <a:rPr lang="ru-RU" sz="1400" dirty="0" err="1"/>
              <a:t>ViT</a:t>
            </a:r>
            <a:r>
              <a:rPr lang="ru-RU" sz="1400" dirty="0"/>
              <a:t> (Vision </a:t>
            </a:r>
            <a:r>
              <a:rPr lang="ru-RU" sz="1400" dirty="0" err="1"/>
              <a:t>Transformer</a:t>
            </a:r>
            <a:r>
              <a:rPr lang="ru-RU" sz="1400" dirty="0"/>
              <a:t> </a:t>
            </a:r>
            <a:r>
              <a:rPr lang="ru-RU" sz="1400" dirty="0" err="1"/>
              <a:t>for</a:t>
            </a:r>
            <a:r>
              <a:rPr lang="ru-RU" sz="1400" dirty="0"/>
              <a:t> Open-World </a:t>
            </a:r>
            <a:r>
              <a:rPr lang="ru-RU" sz="1400" dirty="0" err="1"/>
              <a:t>Localization</a:t>
            </a:r>
            <a:r>
              <a:rPr lang="ru-RU" sz="1400" dirty="0"/>
              <a:t>) — модель, которая адаптирует CLIP для </a:t>
            </a:r>
            <a:r>
              <a:rPr lang="ru-RU" sz="1400" dirty="0" err="1"/>
              <a:t>zero-shot</a:t>
            </a:r>
            <a:r>
              <a:rPr lang="ru-RU" sz="1400" dirty="0"/>
              <a:t> </a:t>
            </a:r>
            <a:r>
              <a:rPr lang="ru-RU" sz="1400" dirty="0" err="1"/>
              <a:t>object</a:t>
            </a:r>
            <a:r>
              <a:rPr lang="ru-RU" sz="1400" dirty="0"/>
              <a:t> </a:t>
            </a:r>
            <a:r>
              <a:rPr lang="ru-RU" sz="1400" dirty="0" err="1"/>
              <a:t>detection</a:t>
            </a:r>
            <a:r>
              <a:rPr lang="ru-RU" sz="1400" dirty="0"/>
              <a:t> </a:t>
            </a:r>
            <a:r>
              <a:rPr lang="ru-RU" sz="1400" b="1" dirty="0"/>
              <a:t>минимальными изменениями</a:t>
            </a:r>
            <a:r>
              <a:rPr lang="ru-RU" sz="1400" dirty="0"/>
              <a:t>.</a:t>
            </a:r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Текст: «Apple reported record quarterly revenue of $124B»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88002"/>
              </p:ext>
            </p:extLst>
          </p:nvPr>
        </p:nvGraphicFramePr>
        <p:xfrm>
          <a:off x="1638170" y="3474720"/>
          <a:ext cx="6035040" cy="128016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p(entailment)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«This text is about Business»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«This text is about Sci/Tech»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«This text is about Sports»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Шрифт, снимок экрана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BBCFC20-76B3-6366-3ECA-E4CA0F46F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00" y="1342853"/>
            <a:ext cx="6982799" cy="2457793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BB42800B-DF2B-E9A7-524F-E75168E15B37}"/>
              </a:ext>
            </a:extLst>
          </p:cNvPr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ZSL в NLP: NLI-подход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24783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Проблемы ZSL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3152" cy="9144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400" b="1" dirty="0"/>
              <a:t>Сдвиг домена (</a:t>
            </a:r>
            <a:r>
              <a:rPr lang="en-US" sz="1400" b="1" dirty="0"/>
              <a:t>Domain Shift)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822960" y="1737360"/>
                <a:ext cx="768096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ru-RU" sz="1200" dirty="0"/>
                  <a:t>Проекция (матрица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ru-RU" sz="1200" dirty="0"/>
                  <a:t>), обученная на </a:t>
                </a:r>
                <a:r>
                  <a:rPr lang="ru-RU" sz="1200" dirty="0" err="1"/>
                  <a:t>seen</a:t>
                </a:r>
                <a:r>
                  <a:rPr lang="ru-RU" sz="1200" dirty="0"/>
                  <a:t>-классах, </a:t>
                </a:r>
                <a:r>
                  <a:rPr lang="ru-RU" sz="1200" b="1" dirty="0"/>
                  <a:t>систематически сдвигает</a:t>
                </a:r>
                <a:r>
                  <a:rPr lang="ru-RU" sz="1200" dirty="0"/>
                  <a:t> спроецированные точки </a:t>
                </a:r>
                <a:r>
                  <a:rPr lang="ru-RU" sz="1200" dirty="0" err="1"/>
                  <a:t>unseen</a:t>
                </a:r>
                <a:r>
                  <a:rPr lang="ru-RU" sz="1200" dirty="0"/>
                  <a:t>-классов от их истинных семантических прототипов. Модель «привыкает» к распределению видимых классов и плохо обобщается на невидимые.</a:t>
                </a:r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737360"/>
                <a:ext cx="7680960" cy="502920"/>
              </a:xfrm>
              <a:prstGeom prst="rect">
                <a:avLst/>
              </a:prstGeom>
              <a:blipFill>
                <a:blip r:embed="rId3"/>
                <a:stretch>
                  <a:fillRect l="-1190" t="-9639" b="-31325"/>
                </a:stretch>
              </a:blipFill>
              <a:ln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548640" y="2468880"/>
            <a:ext cx="73152" cy="9144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400" b="1" dirty="0"/>
              <a:t>Проблема «хабов» (</a:t>
            </a:r>
            <a:r>
              <a:rPr lang="en-US" sz="1400" b="1" dirty="0"/>
              <a:t>Hubness Problem)</a:t>
            </a:r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высокоразмерных пространствах некоторые точки становятся ближайшими соседями непропорционально многих. Решение: обратная проекция (семантическое → визуальное).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73152" cy="9144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400" b="1" dirty="0"/>
              <a:t>Смещение к видимым классам в GZSL</a:t>
            </a:r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предпочитает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видимые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классы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т.к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обучалась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них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Генеративные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подходы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(f-CLSWGAN) </a:t>
            </a:r>
            <a:r>
              <a:rPr lang="en-US" sz="12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добавляют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синтетические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unseen.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Benchmark-датасеты ZSL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646182"/>
              </p:ext>
            </p:extLst>
          </p:nvPr>
        </p:nvGraphicFramePr>
        <p:xfrm>
          <a:off x="516031" y="1371600"/>
          <a:ext cx="7966253" cy="2194560"/>
        </p:xfrm>
        <a:graphic>
          <a:graphicData uri="http://schemas.openxmlformats.org/drawingml/2006/table">
            <a:tbl>
              <a:tblPr/>
              <a:tblGrid>
                <a:gridCol w="1548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77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02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Датасет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Атрибутов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Изобр.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Seen/Unseen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Задача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40/10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CUB-200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150/50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Fine-grained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645/72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Сцены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Визуальные признаки: 2048-dim из ResNet-101 (ImageNet 1K).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Метрики: per-class top-1 accuracy (ZSL), гармоническое среднее H (GZSL).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Splits: Xian et al. (TPAMI 2018) — unseen-классы не входят в ImageNet 1K.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Zero-Shot и Few-Shot Learning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обучения по минимальным данным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II: Few-Shot Learning · Metric Learning · Meta-Learning · PEFT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Few-Shot Learning: подходы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семейства методов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97480" cy="3291840"/>
          </a:xfrm>
          <a:prstGeom prst="rect">
            <a:avLst/>
          </a:prstGeom>
          <a:solidFill>
            <a:srgbClr val="F8F9FA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Metric Learning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(обучение метрики)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Научить пространство, где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похожие объекты близко,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непохожие — далеко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3200400"/>
            <a:ext cx="2148840" cy="73152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8" name="Text 6"/>
          <p:cNvSpPr/>
          <p:nvPr/>
        </p:nvSpPr>
        <p:spPr>
          <a:xfrm>
            <a:off x="685800" y="33832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Siamese, Matching Nets,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Prototypical Nets, Relation Nets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371600"/>
            <a:ext cx="2697480" cy="3291840"/>
          </a:xfrm>
          <a:prstGeom prst="rect">
            <a:avLst/>
          </a:prstGeom>
          <a:solidFill>
            <a:srgbClr val="F8F9FA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0" name="Text 8"/>
          <p:cNvSpPr/>
          <p:nvPr/>
        </p:nvSpPr>
        <p:spPr>
          <a:xfrm>
            <a:off x="3566160" y="14630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Meta-Learning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(мета-обучение)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19456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Научить инициализацию,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которой модель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адаптируется за 1–5 шагов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03320" y="3200400"/>
            <a:ext cx="2148840" cy="73152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3" name="Text 11"/>
          <p:cNvSpPr/>
          <p:nvPr/>
        </p:nvSpPr>
        <p:spPr>
          <a:xfrm>
            <a:off x="3566160" y="33832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MAML, FOMAML, Reptile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2697480" cy="3291840"/>
          </a:xfrm>
          <a:prstGeom prst="rect">
            <a:avLst/>
          </a:prstGeom>
          <a:solidFill>
            <a:srgbClr val="F8F9FA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5" name="Text 13"/>
          <p:cNvSpPr/>
          <p:nvPr/>
        </p:nvSpPr>
        <p:spPr>
          <a:xfrm>
            <a:off x="6446520" y="14630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Transfer + Fine-tune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(перенос + дообучение)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219456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Дообучить предобученную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на малых данных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3200400"/>
            <a:ext cx="2148840" cy="73152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8" name="Text 16"/>
          <p:cNvSpPr/>
          <p:nvPr/>
        </p:nvSpPr>
        <p:spPr>
          <a:xfrm>
            <a:off x="6446520" y="33832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SetFit, PET, LoRA,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Adapters, Prefix Tuning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Siamese Networks (Сиамские сети)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Koch, Zemel, Salakhutdinov — ICML Workshop 2015</a:t>
            </a:r>
            <a:endParaRPr lang="en-US" sz="1200" dirty="0"/>
          </a:p>
        </p:txBody>
      </p:sp>
      <p:pic>
        <p:nvPicPr>
          <p:cNvPr id="30" name="Рисунок 29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CAD33A0-9184-B2BF-F15C-BC236BDF9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833" y="1268921"/>
            <a:ext cx="6106334" cy="334863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Matching Networks (Сопоставляющие сети)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Vinyals et al. — NeurIPS 2016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400" b="1" dirty="0"/>
              <a:t>Отличие от </a:t>
            </a:r>
            <a:r>
              <a:rPr lang="en-US" sz="1400" b="1" dirty="0"/>
              <a:t>Siamese Networks:</a:t>
            </a:r>
            <a:r>
              <a:rPr lang="en-US" sz="1400" dirty="0"/>
              <a:t> </a:t>
            </a:r>
            <a:r>
              <a:rPr lang="ru-RU" sz="1400" dirty="0"/>
              <a:t>вместо попарного сравнения «</a:t>
            </a:r>
            <a:r>
              <a:rPr lang="en-US" sz="1400" dirty="0"/>
              <a:t>query vs </a:t>
            </a:r>
            <a:r>
              <a:rPr lang="ru-RU" sz="1400" dirty="0"/>
              <a:t>один </a:t>
            </a:r>
            <a:r>
              <a:rPr lang="en-US" sz="1400" dirty="0"/>
              <a:t>support» — </a:t>
            </a:r>
            <a:r>
              <a:rPr lang="ru-RU" sz="1400" dirty="0"/>
              <a:t>сравнение </a:t>
            </a:r>
            <a:r>
              <a:rPr lang="en-US" sz="1400" b="1" dirty="0"/>
              <a:t>query </a:t>
            </a:r>
            <a:r>
              <a:rPr lang="ru-RU" sz="1400" b="1" dirty="0"/>
              <a:t>со всем </a:t>
            </a:r>
            <a:r>
              <a:rPr lang="en-US" sz="1400" b="1" dirty="0"/>
              <a:t>support set </a:t>
            </a:r>
            <a:r>
              <a:rPr lang="ru-RU" sz="1400" b="1" dirty="0"/>
              <a:t>одновременно</a:t>
            </a:r>
            <a:r>
              <a:rPr lang="ru-RU" sz="1400" dirty="0"/>
              <a:t> через механизм внимания (</a:t>
            </a:r>
            <a:r>
              <a:rPr lang="en-US" sz="1400" dirty="0"/>
              <a:t>attention).</a:t>
            </a:r>
          </a:p>
          <a:p>
            <a:r>
              <a:rPr lang="ru-RU" sz="1400" b="1" dirty="0"/>
              <a:t>Идея:</a:t>
            </a:r>
            <a:r>
              <a:rPr lang="ru-RU" sz="1400" dirty="0"/>
              <a:t> предсказание для нового изображения — </a:t>
            </a:r>
            <a:r>
              <a:rPr lang="ru-RU" sz="1400" b="1" dirty="0"/>
              <a:t>взвешенное голосование</a:t>
            </a:r>
            <a:r>
              <a:rPr lang="ru-RU" sz="1400" dirty="0"/>
              <a:t> по </a:t>
            </a:r>
            <a:r>
              <a:rPr lang="en-US" sz="1400" dirty="0"/>
              <a:t>support set: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f(x̂)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эмбеддинг query;  </a:t>
            </a: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g(xᵢ)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эмбеддинг support-примера;  </a:t>
            </a: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a(</a:t>
            </a:r>
            <a:r>
              <a:rPr lang="en-US" sz="1100" b="1" dirty="0" err="1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x,x</a:t>
            </a: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вес внимания (softmax по cosine sim)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ru-RU" sz="1100" b="1" dirty="0"/>
              <a:t>Ключевая инновация — </a:t>
            </a:r>
            <a:r>
              <a:rPr lang="en-US" sz="1100" b="1" dirty="0"/>
              <a:t>Full Context Embeddings (FCE):</a:t>
            </a:r>
            <a:r>
              <a:rPr lang="en-US" sz="1100" dirty="0"/>
              <a:t> support-</a:t>
            </a:r>
            <a:r>
              <a:rPr lang="ru-RU" sz="1100" dirty="0"/>
              <a:t>примеры кодируются </a:t>
            </a:r>
            <a:r>
              <a:rPr lang="ru-RU" sz="1100" b="1" dirty="0"/>
              <a:t>не независимо</a:t>
            </a:r>
            <a:r>
              <a:rPr lang="ru-RU" sz="1100" dirty="0"/>
              <a:t>, а с учётом всего </a:t>
            </a:r>
            <a:r>
              <a:rPr lang="en-US" sz="1100" dirty="0"/>
              <a:t>support set </a:t>
            </a:r>
            <a:r>
              <a:rPr lang="ru-RU" sz="1100" dirty="0"/>
              <a:t>через двунаправленный </a:t>
            </a:r>
            <a:r>
              <a:rPr lang="en-US" sz="1100" dirty="0"/>
              <a:t>LSTM:</a:t>
            </a:r>
          </a:p>
        </p:txBody>
      </p:sp>
      <p:pic>
        <p:nvPicPr>
          <p:cNvPr id="14" name="Рисунок 13" descr="Изображение выглядит как Шрифт, белый, рукописный текс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78785C5-4901-514A-A07F-9DFA66482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034" y="2103121"/>
            <a:ext cx="1656956" cy="693286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текст, Шрифт, белый, рукописный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8BD1162-6C44-2ED1-AEF5-EA12C1855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6400" y="2131604"/>
            <a:ext cx="3638566" cy="849532"/>
          </a:xfrm>
          <a:prstGeom prst="rect">
            <a:avLst/>
          </a:prstGeom>
        </p:spPr>
      </p:pic>
      <p:pic>
        <p:nvPicPr>
          <p:cNvPr id="18" name="Рисунок 17" descr="Изображение выглядит как Шрифт, рукописный текст, типография, калли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8B16D15-2964-69A5-F736-89FEE1A3C5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8888" y="4054499"/>
            <a:ext cx="2526224" cy="49770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AF76B9-98E2-EF40-E12D-91BF544C4763}"/>
              </a:ext>
            </a:extLst>
          </p:cNvPr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Matching Networks (Сопоставляющие сети)</a:t>
            </a:r>
            <a:endParaRPr lang="en-US" sz="3000" dirty="0"/>
          </a:p>
        </p:txBody>
      </p:sp>
      <p:pic>
        <p:nvPicPr>
          <p:cNvPr id="4" name="Рисунок 3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87B3862-8F69-11AA-52BC-533FB795F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074" y="1178920"/>
            <a:ext cx="7001852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3746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Prototypical Networks: идея и архитектура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2433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Snell, Swersky, Zemel — NeurIPS 2017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4460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400" dirty="0"/>
              <a:t>Это центральный метод FSL — одновременно простой, эффективный и теоретически обоснованный. Разбираем подробно.</a:t>
            </a:r>
            <a:endParaRPr lang="en-US" sz="1400" dirty="0"/>
          </a:p>
          <a:p>
            <a:endParaRPr lang="ru-RU" sz="1400" dirty="0"/>
          </a:p>
          <a:p>
            <a:r>
              <a:rPr lang="ru-RU" sz="1400" b="1" dirty="0"/>
              <a:t>Идея в одном предложении:</a:t>
            </a:r>
            <a:r>
              <a:rPr lang="ru-RU" sz="1400" dirty="0"/>
              <a:t> каждый класс представлен </a:t>
            </a:r>
            <a:r>
              <a:rPr lang="ru-RU" sz="1400" b="1" dirty="0"/>
              <a:t>одной точкой</a:t>
            </a:r>
            <a:r>
              <a:rPr lang="ru-RU" sz="1400" dirty="0"/>
              <a:t> в пространстве </a:t>
            </a:r>
            <a:r>
              <a:rPr lang="ru-RU" sz="1400" dirty="0" err="1"/>
              <a:t>эмбеддингов</a:t>
            </a:r>
            <a:r>
              <a:rPr lang="ru-RU" sz="1400" dirty="0"/>
              <a:t> — </a:t>
            </a:r>
            <a:r>
              <a:rPr lang="ru-RU" sz="1400" b="1" dirty="0"/>
              <a:t>прототипом</a:t>
            </a:r>
            <a:r>
              <a:rPr lang="ru-RU" sz="1400" dirty="0"/>
              <a:t>, который вычисляется как среднее </a:t>
            </a:r>
            <a:r>
              <a:rPr lang="ru-RU" sz="1400" dirty="0" err="1"/>
              <a:t>эмбеддингов</a:t>
            </a:r>
            <a:r>
              <a:rPr lang="ru-RU" sz="1400" dirty="0"/>
              <a:t> </a:t>
            </a:r>
            <a:r>
              <a:rPr lang="ru-RU" sz="1400" dirty="0" err="1"/>
              <a:t>support</a:t>
            </a:r>
            <a:r>
              <a:rPr lang="ru-RU" sz="1400" dirty="0"/>
              <a:t>-примеров. Новый пример относится к тому классу, чей прототип ближе.</a:t>
            </a:r>
            <a:endParaRPr lang="en-US" sz="1400" dirty="0"/>
          </a:p>
          <a:p>
            <a:endParaRPr lang="ru-RU" sz="1400" dirty="0"/>
          </a:p>
          <a:p>
            <a:r>
              <a:rPr lang="ru-RU" sz="1400" b="1" dirty="0"/>
              <a:t>Почему это работает (интуиция):</a:t>
            </a:r>
            <a:r>
              <a:rPr lang="ru-RU" sz="1400" dirty="0"/>
              <a:t> если нейросеть научилась хорошему пространству признаков, то изображения одного класса группируются в кластеры. Центр кластера (среднее) — естественный «представитель» класса. Даже если у нас всего 5 примеров класса, их среднее — разумная оценка центра кластера.</a:t>
            </a:r>
          </a:p>
        </p:txBody>
      </p:sp>
      <p:sp>
        <p:nvSpPr>
          <p:cNvPr id="23" name="Text 21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~113K параметров. Без FC-слоёв. Без classification head. Модель не знает «класс» — только переводит изображение в вектор.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DEE4EF-AB42-40C1-90D2-C165F80675A6}"/>
              </a:ext>
            </a:extLst>
          </p:cNvPr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Prototypical Networks: идея и архитектура</a:t>
            </a:r>
            <a:endParaRPr lang="en-US" sz="3000" dirty="0"/>
          </a:p>
        </p:txBody>
      </p:sp>
      <p:pic>
        <p:nvPicPr>
          <p:cNvPr id="6" name="Рисунок 5" descr="Изображение выглядит как текст, снимок экрана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9D89E7E-295B-BAA2-A3B7-A8E40B493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383" y="1219674"/>
            <a:ext cx="5677234" cy="357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78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MAML: Model-Agnostic Meta-Learning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Finn, Abbeel, Levine — ICML 2017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/>
              <p:nvPr/>
            </p:nvSpPr>
            <p:spPr>
              <a:xfrm>
                <a:off x="548640" y="1551376"/>
                <a:ext cx="804672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ru-RU" sz="1400" b="1" dirty="0"/>
                  <a:t>Идея:</a:t>
                </a:r>
                <a:r>
                  <a:rPr lang="ru-RU" sz="1400" dirty="0"/>
                  <a:t> найти такую </a:t>
                </a:r>
                <a:r>
                  <a:rPr lang="ru-RU" sz="1400" b="1" dirty="0"/>
                  <a:t>инициализацию весов</a:t>
                </a:r>
                <a:r>
                  <a:rPr lang="ru-RU" sz="1400" dirty="0"/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sz="1400" dirty="0"/>
                  <a:t>, из которой модель может адаптироваться к любой новой задаче за </a:t>
                </a:r>
                <a:r>
                  <a:rPr lang="ru-RU" sz="1400" b="1" dirty="0"/>
                  <a:t>несколько шагов градиентного спуска</a:t>
                </a:r>
                <a:r>
                  <a:rPr lang="ru-RU" sz="1400" dirty="0"/>
                  <a:t> на малом количестве данных.</a:t>
                </a:r>
              </a:p>
              <a:p>
                <a:r>
                  <a:rPr lang="ru-RU" sz="1400" dirty="0"/>
                  <a:t>Обычное обучение: случайная инициализация → тысячи шагов градиентного спуска → модель для одной задачи. MAML: </a:t>
                </a:r>
                <a:r>
                  <a:rPr lang="ru-RU" sz="1400" b="1" dirty="0"/>
                  <a:t>мета-обучение инициализации</a:t>
                </a:r>
                <a:r>
                  <a:rPr lang="ru-RU" sz="1400" dirty="0"/>
                  <a:t> → 1–5 шагов градиентного спуска на новой задаче → рабочая модель.</a:t>
                </a:r>
              </a:p>
            </p:txBody>
          </p:sp>
        </mc:Choice>
        <mc:Fallback xmlns="">
          <p:sp>
            <p:nvSpPr>
              <p:cNvPr id="4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551376"/>
                <a:ext cx="8046720" cy="320040"/>
              </a:xfrm>
              <a:prstGeom prst="rect">
                <a:avLst/>
              </a:prstGeom>
              <a:blipFill>
                <a:blip r:embed="rId3"/>
                <a:stretch>
                  <a:fillRect l="-1364" t="-122642" r="-1667" b="-158491"/>
                </a:stretch>
              </a:blipFill>
              <a:ln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8C66AD-C9AA-D154-7D52-E13FE43464D1}"/>
                  </a:ext>
                </a:extLst>
              </p:cNvPr>
              <p:cNvSpPr txBox="1"/>
              <p:nvPr/>
            </p:nvSpPr>
            <p:spPr>
              <a:xfrm>
                <a:off x="469599" y="2307738"/>
                <a:ext cx="8204802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ru-RU" sz="1400" b="1" dirty="0">
                    <a:latin typeface="+mj-lt"/>
                  </a:rPr>
                  <a:t>Два уровня оптимизации:</a:t>
                </a:r>
                <a:endParaRPr lang="ru-RU" sz="1400" dirty="0">
                  <a:latin typeface="+mj-lt"/>
                </a:endParaRPr>
              </a:p>
              <a:p>
                <a:pPr>
                  <a:buNone/>
                </a:pPr>
                <a:r>
                  <a:rPr lang="en-US" sz="1400" b="1" dirty="0">
                    <a:latin typeface="+mj-lt"/>
                  </a:rPr>
                  <a:t>Inner loop (</a:t>
                </a:r>
                <a:r>
                  <a:rPr lang="ru-RU" sz="1400" b="1" dirty="0">
                    <a:latin typeface="+mj-lt"/>
                  </a:rPr>
                  <a:t>внутренний цикл) — адаптация к конкретной задаче:</a:t>
                </a:r>
                <a:endParaRPr lang="ru-RU" sz="1400" dirty="0">
                  <a:latin typeface="+mj-lt"/>
                </a:endParaRPr>
              </a:p>
              <a:p>
                <a:pPr>
                  <a:buNone/>
                </a:pPr>
                <a:r>
                  <a:rPr lang="ru-RU" sz="1400" dirty="0">
                    <a:latin typeface="+mj-lt"/>
                  </a:rPr>
                  <a:t>Для задачи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400" dirty="0">
                    <a:latin typeface="+mj-lt"/>
                  </a:rPr>
                  <a:t>(</a:t>
                </a:r>
                <a:r>
                  <a:rPr lang="ru-RU" sz="1400" dirty="0">
                    <a:latin typeface="+mj-lt"/>
                  </a:rPr>
                  <a:t>один эпизод: </a:t>
                </a:r>
                <a:r>
                  <a:rPr lang="en-US" sz="1400" dirty="0">
                    <a:latin typeface="+mj-lt"/>
                  </a:rPr>
                  <a:t>N-way K-shot) </a:t>
                </a:r>
                <a:r>
                  <a:rPr lang="ru-RU" sz="1400" dirty="0">
                    <a:latin typeface="+mj-lt"/>
                  </a:rPr>
                  <a:t>делаем один или несколько шагов </a:t>
                </a:r>
                <a:r>
                  <a:rPr lang="en-US" sz="1400" dirty="0">
                    <a:latin typeface="+mj-lt"/>
                  </a:rPr>
                  <a:t>SGD </a:t>
                </a:r>
                <a:r>
                  <a:rPr lang="ru-RU" sz="1400" dirty="0">
                    <a:latin typeface="+mj-lt"/>
                  </a:rPr>
                  <a:t>на </a:t>
                </a:r>
                <a:r>
                  <a:rPr lang="en-US" sz="1400" dirty="0">
                    <a:latin typeface="+mj-lt"/>
                  </a:rPr>
                  <a:t>support set: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8C66AD-C9AA-D154-7D52-E13FE4346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99" y="2307738"/>
                <a:ext cx="8204802" cy="738664"/>
              </a:xfrm>
              <a:prstGeom prst="rect">
                <a:avLst/>
              </a:prstGeom>
              <a:blipFill>
                <a:blip r:embed="rId4"/>
                <a:stretch>
                  <a:fillRect l="-223" t="-1653" b="-82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Рисунок 19" descr="Изображение выглядит как Шрифт, типография, каллиграфия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44EEEF6-E64A-AE5C-57F7-B48DC9F684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0735" y="2990434"/>
            <a:ext cx="2362530" cy="514422"/>
          </a:xfrm>
          <a:prstGeom prst="rect">
            <a:avLst/>
          </a:prstGeom>
        </p:spPr>
      </p:pic>
      <p:pic>
        <p:nvPicPr>
          <p:cNvPr id="22" name="Рисунок 21" descr="Изображение выглядит как текст, Шрифт, чек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D2951A1-3C9C-1132-0077-1D2D7C2183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562035"/>
            <a:ext cx="3378283" cy="130714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E1719C-DB5F-3C9F-A9DA-C791B5470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42" y="461668"/>
            <a:ext cx="6916115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2046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Reptile: упрощение MAML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200" b="1" dirty="0"/>
              <a:t>Проблема MAML:</a:t>
            </a:r>
            <a:r>
              <a:rPr lang="ru-RU" sz="1200" dirty="0"/>
              <a:t> даже FOMAML требует дифференцирования через несколько шагов оптимизации. </a:t>
            </a:r>
            <a:r>
              <a:rPr lang="ru-RU" sz="1200" dirty="0" err="1"/>
              <a:t>Reptile</a:t>
            </a:r>
            <a:r>
              <a:rPr lang="ru-RU" sz="1200" dirty="0"/>
              <a:t> — ещё более простая альтернатива.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0" cy="1188720"/>
          </a:xfrm>
          <a:prstGeom prst="rect">
            <a:avLst/>
          </a:prstGeom>
          <a:solidFill>
            <a:srgbClr val="F1F5F9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Инициализируем 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Для каждой итерации: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φ̃ = SGD(φ, задача τ, k шагов)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φ ← φ + ε(φ̃ − φ)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0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нужно дифференцирование через оптимизацию.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Обучись на задаче → сдвинь начальную точку в сторону результата.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с MAML через разложение Тейлора (k=2):</a:t>
            </a:r>
            <a:endParaRPr lang="en-US" sz="1200" dirty="0"/>
          </a:p>
        </p:txBody>
      </p:sp>
      <p:pic>
        <p:nvPicPr>
          <p:cNvPr id="16" name="Рисунок 15" descr="Изображение выглядит как текст, Шрифт, белый, алгеб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792C7E2-3691-677A-CF19-FD9C0B9A1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484" y="3166601"/>
            <a:ext cx="4293032" cy="108971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CLIP как Few-Shot Learner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Probe · CoOp · Tip-Adapter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989767"/>
            <a:ext cx="2697480" cy="2909455"/>
          </a:xfrm>
          <a:prstGeom prst="rect">
            <a:avLst/>
          </a:prstGeom>
          <a:solidFill>
            <a:srgbClr val="F8F9FA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5" name="Text 3"/>
          <p:cNvSpPr/>
          <p:nvPr/>
        </p:nvSpPr>
        <p:spPr>
          <a:xfrm>
            <a:off x="640080" y="216046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17662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Заморозить CLIP, обучить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линейный классификатор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K примерах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389782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Просто, быстро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21786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Не использует текст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989767"/>
            <a:ext cx="2697480" cy="2909455"/>
          </a:xfrm>
          <a:prstGeom prst="rect">
            <a:avLst/>
          </a:prstGeom>
          <a:solidFill>
            <a:srgbClr val="F8F9F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0" name="Text 8"/>
          <p:cNvSpPr/>
          <p:nvPr/>
        </p:nvSpPr>
        <p:spPr>
          <a:xfrm>
            <a:off x="3520440" y="2199209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 (Context Opt.)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656409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[V₁][V₂]...[Vₙ][CLASS]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Обучаемые soft-промпты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~8K параметров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3936569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+10–15% over hand-crafted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4256609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Нужно обучение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989767"/>
            <a:ext cx="2697480" cy="2909455"/>
          </a:xfrm>
          <a:prstGeom prst="rect">
            <a:avLst/>
          </a:prstGeom>
          <a:solidFill>
            <a:srgbClr val="F8F9F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5" name="Text 13"/>
          <p:cNvSpPr/>
          <p:nvPr/>
        </p:nvSpPr>
        <p:spPr>
          <a:xfrm>
            <a:off x="6400800" y="2199209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Tip-Adapter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656409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 few-shot примеров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attention-weighted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3936569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Training-free!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4256609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Ограничен CLIP</a:t>
            </a:r>
            <a:endParaRPr 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7BB7BE-127F-A614-04A0-1369A6CD1898}"/>
              </a:ext>
            </a:extLst>
          </p:cNvPr>
          <p:cNvSpPr txBox="1"/>
          <p:nvPr/>
        </p:nvSpPr>
        <p:spPr>
          <a:xfrm>
            <a:off x="464949" y="1306527"/>
            <a:ext cx="7865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400" dirty="0">
                <a:latin typeface="+mj-lt"/>
              </a:rPr>
              <a:t>CLIP — не только </a:t>
            </a:r>
            <a:r>
              <a:rPr lang="ru-RU" sz="1400" dirty="0" err="1">
                <a:latin typeface="+mj-lt"/>
              </a:rPr>
              <a:t>zero-shot</a:t>
            </a:r>
            <a:r>
              <a:rPr lang="ru-RU" sz="1400" dirty="0">
                <a:latin typeface="+mj-lt"/>
              </a:rPr>
              <a:t> модель. Имея </a:t>
            </a:r>
            <a:r>
              <a:rPr lang="ru-RU" sz="1400" dirty="0" err="1">
                <a:latin typeface="+mj-lt"/>
              </a:rPr>
              <a:t>предобученный</a:t>
            </a:r>
            <a:r>
              <a:rPr lang="ru-RU" sz="1400" dirty="0">
                <a:latin typeface="+mj-lt"/>
              </a:rPr>
              <a:t> CLIP, можно адаптировать его к новым задачам с несколькими примерами тремя способами: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SetFit: Few-Shot NLP без промптов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Tunstall, Reimers et al. — 2022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4114800" cy="2286000"/>
          </a:xfrm>
          <a:prstGeom prst="rect">
            <a:avLst/>
          </a:prstGeom>
          <a:solidFill>
            <a:srgbClr val="F8F9FA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1: Контрастивное дообучение 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K примеров генерируются пары: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Позитивные: (xᵢ, xⱼ) — один класс → y=1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Негативные: (xᵢ, xₖ) — разные классы → y=0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R=20 пар/класс → из 8 примеров ~160 пар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3931920" cy="2286000"/>
          </a:xfrm>
          <a:prstGeom prst="rect">
            <a:avLst/>
          </a:prstGeom>
          <a:solidFill>
            <a:srgbClr val="F8F9FA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0" name="Text 8"/>
          <p:cNvSpPr/>
          <p:nvPr/>
        </p:nvSpPr>
        <p:spPr>
          <a:xfrm>
            <a:off x="51206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2: Классификационная голова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17373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эмбеддингах дообученного ST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обучается Logistic Regression: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16496"/>
            <a:ext cx="804672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5" name="Text 13"/>
          <p:cNvSpPr/>
          <p:nvPr/>
        </p:nvSpPr>
        <p:spPr>
          <a:xfrm>
            <a:off x="731520" y="3716496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примеров → Генерация пар → Contrastive fine-tuning ST → Embeddings → LogReg → Classifier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48016"/>
            <a:ext cx="804672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7" name="Text 15"/>
          <p:cNvSpPr/>
          <p:nvPr/>
        </p:nvSpPr>
        <p:spPr>
          <a:xfrm>
            <a:off x="822960" y="444801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SetFit (~355M) превосходит GPT-3 (175B) на RAFT benchmark: 71.3% vs 62.7%. В 500× меньше параметров.</a:t>
            </a:r>
            <a:endParaRPr lang="en-US" sz="1200" dirty="0"/>
          </a:p>
        </p:txBody>
      </p:sp>
      <p:pic>
        <p:nvPicPr>
          <p:cNvPr id="19" name="Рисунок 18" descr="Изображение выглядит как Шрифт, текст, рукописный текст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0A69716-F2D8-17DD-9EDD-469332089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85443"/>
            <a:ext cx="2839712" cy="574396"/>
          </a:xfrm>
          <a:prstGeom prst="rect">
            <a:avLst/>
          </a:prstGeom>
        </p:spPr>
      </p:pic>
      <p:pic>
        <p:nvPicPr>
          <p:cNvPr id="21" name="Рисунок 20" descr="Изображение выглядит как Шрифт, текст, типография, калли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437DC35-6331-8D65-62EB-8F1C4610B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6839" y="2423160"/>
            <a:ext cx="2839712" cy="37301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3E31151-8081-F00E-A07C-EC01B03A4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442" y="747458"/>
            <a:ext cx="7097115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3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PET: Pattern-Exploiting Training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Schick, Schütze — EACL 2021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400" b="1" dirty="0"/>
              <a:t>Идея:</a:t>
            </a:r>
            <a:r>
              <a:rPr lang="ru-RU" sz="1400" dirty="0"/>
              <a:t> превратить любую задачу классификации в </a:t>
            </a:r>
            <a:r>
              <a:rPr lang="ru-RU" sz="1400" b="1" dirty="0" err="1"/>
              <a:t>cloze</a:t>
            </a:r>
            <a:r>
              <a:rPr lang="ru-RU" sz="1400" b="1" dirty="0"/>
              <a:t>-задачу</a:t>
            </a:r>
            <a:r>
              <a:rPr lang="ru-RU" sz="1400" dirty="0"/>
              <a:t> (задачу заполнения пропуска), которую языковая модель уже умеет решать.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93192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(шаблон)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P(x) = «x. It was [MASK].»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→ предложение с пропуском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737360"/>
            <a:ext cx="393192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Verbalizer (вербализатор)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2148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v(positive) = «great»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v(negative) = «terrible»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Метки → слова из словаря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Трёхшаговый процесс: (1) модель для каждого PVP; (2) ансамбль → soft labels для неразмеченных данных; (3) финальный классификатор на soft-labeled данных. iPET итерирует.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PET с ALBERT (235M) превосходит GPT-3 (175B) на SuperGLUE с 32 примерами.</a:t>
            </a:r>
            <a:endParaRPr lang="en-US" sz="12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76DFDDC-67B6-3B9D-8C13-C545229FD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12" y="3115828"/>
            <a:ext cx="7133656" cy="44346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LoRA: Low-Rank Adaptation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et al. — ICLR 2022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/>
              <p:nvPr/>
            </p:nvSpPr>
            <p:spPr>
              <a:xfrm>
                <a:off x="548640" y="1280160"/>
                <a:ext cx="804672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ru-RU" sz="1400" b="1" dirty="0">
                    <a:latin typeface="+mj-lt"/>
                  </a:rPr>
                  <a:t>Идея:</a:t>
                </a:r>
                <a:r>
                  <a:rPr lang="ru-RU" sz="1400" dirty="0">
                    <a:latin typeface="+mj-lt"/>
                  </a:rPr>
                  <a:t> вместо обновления полной матрицы весов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ru-RU" sz="1400" dirty="0">
                    <a:latin typeface="+mj-lt"/>
                  </a:rPr>
                  <a:t>обучается </a:t>
                </a:r>
                <a:r>
                  <a:rPr lang="ru-RU" sz="1400" b="1" dirty="0" err="1">
                    <a:latin typeface="+mj-lt"/>
                  </a:rPr>
                  <a:t>низкоранговое</a:t>
                </a:r>
                <a:r>
                  <a:rPr lang="ru-RU" sz="1400" b="1" dirty="0">
                    <a:latin typeface="+mj-lt"/>
                  </a:rPr>
                  <a:t> разложение</a:t>
                </a:r>
                <a:r>
                  <a:rPr lang="ru-RU" sz="1400" dirty="0">
                    <a:latin typeface="+mj-lt"/>
                  </a:rPr>
                  <a:t> обновления:</a:t>
                </a:r>
              </a:p>
              <a:p>
                <a:endParaRPr lang="ru-RU" sz="1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280160"/>
                <a:ext cx="8046720" cy="320040"/>
              </a:xfrm>
              <a:prstGeom prst="rect">
                <a:avLst/>
              </a:prstGeom>
              <a:blipFill>
                <a:blip r:embed="rId3"/>
                <a:stretch>
                  <a:fillRect l="-1364" t="-64151" b="-41509"/>
                </a:stretch>
              </a:blipFill>
              <a:ln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5303520" y="16916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W₀ ∈ ℝ^{d×k}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исходные веса (</a:t>
            </a: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замороженные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
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∈ ℝ^{d×r}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∈ ℝ^{r×k}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обучаемые матрицы
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≪ min(d,k)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ранг (обычно r = 4 или 8)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046720" cy="146304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9" name="Shape 7"/>
          <p:cNvSpPr/>
          <p:nvPr/>
        </p:nvSpPr>
        <p:spPr>
          <a:xfrm>
            <a:off x="914400" y="2697480"/>
            <a:ext cx="73152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2697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77777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11680" y="2606040"/>
            <a:ext cx="1828800" cy="6400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3" name="Text 11"/>
          <p:cNvSpPr/>
          <p:nvPr/>
        </p:nvSpPr>
        <p:spPr>
          <a:xfrm>
            <a:off x="201168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W₀ (d×k)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заморожена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2697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0" y="3383280"/>
            <a:ext cx="82296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6" name="Text 14"/>
          <p:cNvSpPr/>
          <p:nvPr/>
        </p:nvSpPr>
        <p:spPr>
          <a:xfrm>
            <a:off x="2011680" y="3383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(r×k)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34640" y="3383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77777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108960" y="3383280"/>
            <a:ext cx="82296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9" name="Text 17"/>
          <p:cNvSpPr/>
          <p:nvPr/>
        </p:nvSpPr>
        <p:spPr>
          <a:xfrm>
            <a:off x="3108960" y="3383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(d×r)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31920" y="3383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Δh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834640"/>
            <a:ext cx="548640" cy="5486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2" name="Text 20"/>
          <p:cNvSpPr/>
          <p:nvPr/>
        </p:nvSpPr>
        <p:spPr>
          <a:xfrm>
            <a:off x="475488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A580C"/>
                </a:solidFill>
              </a:rPr>
              <a:t>+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94960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 = h₀ + (α/r)·Δh</a:t>
            </a:r>
            <a:endParaRPr lang="en-US" sz="1200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1C765E34-2B0A-9010-DF95-0945E6EC5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814" y="1741119"/>
            <a:ext cx="3419952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Сравнение PEFT-методов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· Prefix Tuning · LoRA</a:t>
            </a:r>
            <a:endParaRPr lang="en-US" sz="1200" dirty="0"/>
          </a:p>
        </p:txBody>
      </p:sp>
      <p:pic>
        <p:nvPicPr>
          <p:cNvPr id="5" name="Рисунок 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1992C9B-9469-A8D8-6E84-07FC004D9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76" y="1402767"/>
            <a:ext cx="7195848" cy="271963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Сводная таблица: все методы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754207"/>
              </p:ext>
            </p:extLst>
          </p:nvPr>
        </p:nvGraphicFramePr>
        <p:xfrm>
          <a:off x="1101185" y="1188720"/>
          <a:ext cx="7081113" cy="3291840"/>
        </p:xfrm>
        <a:graphic>
          <a:graphicData uri="http://schemas.openxmlformats.org/drawingml/2006/table">
            <a:tbl>
              <a:tblPr/>
              <a:tblGrid>
                <a:gridCol w="1217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5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5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4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83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09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Домен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Размер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Преимущество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DAP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Интерпретируемость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~150-430M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Универсальность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OWL-ViT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 Det.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Локализация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NLI-ZSL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Любые метки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ProtoNet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Простота + теория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MAML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CV/NLP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Любой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Универсальность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SetFit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промптов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доп. задержка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0642" marR="110642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Когда что использовать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38404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CV, 0 примеров, классификация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846320" y="11887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CLIP / SigLIP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80467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CV, 0 примеров, локализация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6459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OWL-ViT / OWLv2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8046720" cy="38404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CV, 1–5 примеров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1031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ProtoNet или CLIP+CoOp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80467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3" name="Text 11"/>
          <p:cNvSpPr/>
          <p:nvPr/>
        </p:nvSpPr>
        <p:spPr>
          <a:xfrm>
            <a:off x="731520" y="25603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CV, спец. домен (медицина, спутники)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5603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ProtoNet/MAML + domain encoder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8046720" cy="38404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6" name="Text 14"/>
          <p:cNvSpPr/>
          <p:nvPr/>
        </p:nvSpPr>
        <p:spPr>
          <a:xfrm>
            <a:off x="731520" y="30175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NLP, 0 примеров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0175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DeBERTa-v3-MNLI или LLM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80467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9" name="Text 17"/>
          <p:cNvSpPr/>
          <p:nvPr/>
        </p:nvSpPr>
        <p:spPr>
          <a:xfrm>
            <a:off x="731520" y="34747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NLP, 8–16 примеров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4747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SetFit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8046720" cy="38404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22" name="Text 20"/>
          <p:cNvSpPr/>
          <p:nvPr/>
        </p:nvSpPr>
        <p:spPr>
          <a:xfrm>
            <a:off x="731520" y="39319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NLP, есть предобученная LLM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9319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LoRA few-shot fine-tuning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80467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25" name="Text 23"/>
          <p:cNvSpPr/>
          <p:nvPr/>
        </p:nvSpPr>
        <p:spPr>
          <a:xfrm>
            <a:off x="731520" y="43891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Классы появляются динамически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43891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ProtoNet (не нужно переобучать)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Связь ZSL/FSL с другими областями ML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645920" cy="43891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77440" y="118872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ZSL = частный случай. CLIP стёр границу.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09928"/>
            <a:ext cx="1645920" cy="43891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7" name="Text 5"/>
          <p:cNvSpPr/>
          <p:nvPr/>
        </p:nvSpPr>
        <p:spPr>
          <a:xfrm>
            <a:off x="548640" y="170992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Learning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17099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ProtoNet, FaceNet, Image Retrieval — одна идея.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31136"/>
            <a:ext cx="1645920" cy="43891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0" name="Text 8"/>
          <p:cNvSpPr/>
          <p:nvPr/>
        </p:nvSpPr>
        <p:spPr>
          <a:xfrm>
            <a:off x="548640" y="2231136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Генеративные модели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223113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f-CLSWGAN помогает ZSL; Stable Diffusion демонстрирует ZSL.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52344"/>
            <a:ext cx="1645920" cy="43891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3" name="Text 11"/>
          <p:cNvSpPr/>
          <p:nvPr/>
        </p:nvSpPr>
        <p:spPr>
          <a:xfrm>
            <a:off x="548640" y="2752344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Compositional Gen.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27523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«красный слон» = комбинация; ZSL через атрибуты — то же.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73552"/>
            <a:ext cx="1645920" cy="43891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6" name="Text 14"/>
          <p:cNvSpPr/>
          <p:nvPr/>
        </p:nvSpPr>
        <p:spPr>
          <a:xfrm>
            <a:off x="548640" y="32735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Open-World Detection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327355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OWL-ViT → обнаружение «неизвестного». ZSL в чистом виде.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1645920" cy="43891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Continual Learning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379476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GZSL = пересечение: seen + unseen без забывания.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315968"/>
            <a:ext cx="1645920" cy="43891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22" name="Text 20"/>
          <p:cNvSpPr/>
          <p:nvPr/>
        </p:nvSpPr>
        <p:spPr>
          <a:xfrm>
            <a:off x="548640" y="431596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 в LLM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77440" y="431596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«Zero-shot по задачам» — духовный наследник ZSL по классам.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Ключевые источники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Fei-Fei et al. (2006) — One-Shot Learning. TPAMI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1490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Lampert et al. (2009/2014) — DAP/IAP. CVPR / TPAMI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7922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Snell et al. (2017) — Prototypical Networks. NeurIPS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209397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Finn et al. (2017) — MAML. ICML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Xian et al. (2018) — f-CLSWGAN. CVPR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Radford et al. (2021) — CLIP. ICML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999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Minderer et al. (2022) — OWL-ViT. ECCV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3009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Tunstall et al. (2022) — SetFit. arXiv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6027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Zhai et al. (2023) — SigLIP. arXiv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9044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Hu et al. (2022) — LoRA. ICLR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Brown et al. (2020) — GPT-3 / ICL. NeurIPS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507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Yin et al. (2019) — NLI-ZSL. EMNLP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193167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3497</Words>
  <Application>Microsoft Office PowerPoint</Application>
  <PresentationFormat>Экран (16:9)</PresentationFormat>
  <Paragraphs>526</Paragraphs>
  <Slides>48</Slides>
  <Notes>41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4" baseType="lpstr">
      <vt:lpstr>Arial</vt:lpstr>
      <vt:lpstr>Calibri</vt:lpstr>
      <vt:lpstr>Cambria Math</vt:lpstr>
      <vt:lpstr>Consolas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Zero-Shot &amp; Few-Shot Learning — Part 1</dc:title>
  <dc:subject>PptxGenJS Presentation</dc:subject>
  <dc:creator>Романов Данил</dc:creator>
  <cp:lastModifiedBy>Sue Ricketts</cp:lastModifiedBy>
  <cp:revision>44</cp:revision>
  <dcterms:created xsi:type="dcterms:W3CDTF">2026-03-28T04:23:02Z</dcterms:created>
  <dcterms:modified xsi:type="dcterms:W3CDTF">2026-03-28T06:53:54Z</dcterms:modified>
</cp:coreProperties>
</file>